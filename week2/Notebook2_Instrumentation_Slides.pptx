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712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937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idea that seismic networks are end-to-end computational systems. This lecture explains why instruments look the way they do and how they force computational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Students often separate instruments and software conceptually. Emphasize that they co-evolve.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Slide 2 — Why Instrumentation = Computation</a:t>
            </a:r>
          </a:p>
          <a:p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Seismic networks are </a:t>
            </a:r>
            <a:r>
              <a:rPr lang="en-US" b="1" dirty="0"/>
              <a:t>end-to-end computational systems</a:t>
            </a:r>
            <a:endParaRPr lang="en-US" dirty="0"/>
          </a:p>
          <a:p>
            <a:r>
              <a:rPr lang="en-US" dirty="0"/>
              <a:t>Sensors → telemetry → digitizers → storage → processing</a:t>
            </a:r>
          </a:p>
          <a:p>
            <a:r>
              <a:rPr lang="en-US" dirty="0"/>
              <a:t>Each instrumentation advance </a:t>
            </a:r>
            <a:r>
              <a:rPr lang="en-US" b="1" dirty="0"/>
              <a:t>forces a computational change</a:t>
            </a:r>
            <a:endParaRPr lang="en-US" dirty="0"/>
          </a:p>
          <a:p>
            <a:r>
              <a:rPr lang="en-US" b="1" dirty="0"/>
              <a:t>Speaker notes:</a:t>
            </a:r>
            <a:br>
              <a:rPr lang="en-US" dirty="0"/>
            </a:br>
            <a:r>
              <a:rPr lang="en-US" dirty="0"/>
              <a:t>We often talk about “instruments” and “software” separately. In reality, they evolve together. You can’t understand digitizers or ADCs without understanding why earlier instruments failed.</a:t>
            </a:r>
          </a:p>
          <a:p>
            <a:r>
              <a:rPr lang="en-US" b="1" dirty="0"/>
              <a:t>Seismic Instrumentation as a Computational System</a:t>
            </a:r>
          </a:p>
          <a:p>
            <a:r>
              <a:rPr lang="en-US" b="1" dirty="0"/>
              <a:t>From Analog Drums to DAS, Nodal Arrays, and Citizen Seismology</a:t>
            </a:r>
          </a:p>
          <a:p>
            <a:r>
              <a:rPr lang="en-US" b="1" dirty="0"/>
              <a:t>Course:</a:t>
            </a:r>
            <a:r>
              <a:rPr lang="en-US" dirty="0"/>
              <a:t> Computational Seismology</a:t>
            </a:r>
            <a:br>
              <a:rPr lang="en-US" dirty="0"/>
            </a:br>
            <a:r>
              <a:rPr lang="en-US" b="1" dirty="0"/>
              <a:t>Week:</a:t>
            </a:r>
            <a:r>
              <a:rPr lang="en-US" dirty="0"/>
              <a:t> Instrumentation, Digitizers, and Data QC</a:t>
            </a:r>
          </a:p>
          <a:p>
            <a:r>
              <a:rPr lang="en-US" b="1" dirty="0"/>
              <a:t>Speaker notes:</a:t>
            </a:r>
            <a:br>
              <a:rPr lang="en-US" dirty="0"/>
            </a:br>
            <a:r>
              <a:rPr lang="en-US" dirty="0"/>
              <a:t>This lecture is about </a:t>
            </a:r>
            <a:r>
              <a:rPr lang="en-US" i="1" dirty="0"/>
              <a:t>why seismic instruments look the way they do</a:t>
            </a:r>
            <a:r>
              <a:rPr lang="en-US" dirty="0"/>
              <a:t>, and how instrumentation choices force computational choices. This is not a sensor catalog — it’s a systems view.</a:t>
            </a:r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Explain that these systems were continuous but only on paper. The instrument itself limited bandwidth and dynamic range.</a:t>
            </a:r>
            <a:r>
              <a:rPr lang="en-US" dirty="0"/>
              <a:t> The </a:t>
            </a:r>
            <a:r>
              <a:rPr lang="en-US" i="1" dirty="0"/>
              <a:t>instrument itself</a:t>
            </a:r>
            <a:r>
              <a:rPr lang="en-US" dirty="0"/>
              <a:t> did the filtering and clipping. There was no digital storage, no automation, and no replay.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Highlight why waveform analysis and automation were impossible with analog systems.</a:t>
            </a:r>
            <a:r>
              <a:rPr lang="en-US" dirty="0"/>
              <a:t> </a:t>
            </a:r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Limited dynamic range</a:t>
            </a:r>
          </a:p>
          <a:p>
            <a:r>
              <a:rPr lang="en-US" dirty="0"/>
              <a:t>Mechanical saturation</a:t>
            </a:r>
          </a:p>
          <a:p>
            <a:r>
              <a:rPr lang="en-US" dirty="0"/>
              <a:t>No automated detection</a:t>
            </a:r>
          </a:p>
          <a:p>
            <a:r>
              <a:rPr lang="en-US" dirty="0"/>
              <a:t>Manual phase picking</a:t>
            </a:r>
          </a:p>
          <a:p>
            <a:r>
              <a:rPr lang="en-US" b="1" dirty="0"/>
              <a:t>Speaker notes:</a:t>
            </a:r>
            <a:br>
              <a:rPr lang="en-US" dirty="0"/>
            </a:br>
            <a:r>
              <a:rPr lang="en-US" dirty="0"/>
              <a:t>When students ask “why didn’t they just do X?”, the answer is usually: the instrument physically couldn’t do it.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that standardized instruments made global computation meaningful.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Broadband sensors broke analog telemetry and forced digitization.</a:t>
            </a:r>
            <a:r>
              <a:rPr lang="en-US" dirty="0"/>
              <a:t> Force-balance feedback sensors</a:t>
            </a:r>
          </a:p>
          <a:p>
            <a:r>
              <a:rPr lang="en-US" dirty="0"/>
              <a:t>Huge dynamic range</a:t>
            </a:r>
          </a:p>
          <a:p>
            <a:r>
              <a:rPr lang="en-US" dirty="0"/>
              <a:t>Wide frequency band</a:t>
            </a:r>
          </a:p>
          <a:p>
            <a:r>
              <a:rPr lang="en-US" dirty="0"/>
              <a:t>No longer compatible with analog telemetry</a:t>
            </a:r>
          </a:p>
          <a:p>
            <a:endParaRPr lang="en-US" dirty="0"/>
          </a:p>
          <a:p>
            <a:r>
              <a:rPr lang="en-US" dirty="0"/>
              <a:t>Broadband sensors broke analog systems. The sensors became </a:t>
            </a:r>
            <a:r>
              <a:rPr lang="en-US" i="1" dirty="0"/>
              <a:t>better than the telemetry</a:t>
            </a:r>
            <a:r>
              <a:rPr lang="en-US" dirty="0"/>
              <a:t>. This </a:t>
            </a:r>
            <a:r>
              <a:rPr lang="en-US" i="1" dirty="0"/>
              <a:t>forces digitization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This is the conceptual bridge to digitizers and ADC theory.</a:t>
            </a:r>
            <a:r>
              <a:rPr lang="en-US" dirty="0"/>
              <a:t> Analog links clip broadband signals</a:t>
            </a:r>
          </a:p>
          <a:p>
            <a:r>
              <a:rPr lang="en-US" dirty="0"/>
              <a:t>Digitization moves closer to sensor</a:t>
            </a:r>
          </a:p>
          <a:p>
            <a:r>
              <a:rPr lang="en-US" dirty="0"/>
              <a:t>ADCs become critical design elements</a:t>
            </a:r>
          </a:p>
          <a:p>
            <a:r>
              <a:rPr lang="en-US" b="1" dirty="0"/>
              <a:t>Speaker notes:</a:t>
            </a:r>
            <a:br>
              <a:rPr lang="en-US" dirty="0"/>
            </a:br>
            <a:r>
              <a:rPr lang="en-US" dirty="0"/>
              <a:t>This is the point where digitizers stop being optional accessories and become central to the system.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dirty="0"/>
              <a:t>Modern digitizers are networked computers, not passive devices.</a:t>
            </a:r>
            <a:r>
              <a:rPr lang="en-US" dirty="0"/>
              <a:t>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 slide: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Embedded CPUs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GPS timing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Ethernet / IP networking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 configuration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Speaker notes: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 digitizers are small computers. They run operating systems, buffer data, and talk IP — just like servers.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Everything on this slide motivates the lab and ADC theory.</a:t>
            </a:r>
            <a:r>
              <a:rPr lang="en-US" dirty="0"/>
              <a:t> Sampling rate</a:t>
            </a:r>
          </a:p>
          <a:p>
            <a:r>
              <a:rPr lang="en-US" dirty="0"/>
              <a:t>Bit depth &amp; quantization</a:t>
            </a:r>
          </a:p>
          <a:p>
            <a:r>
              <a:rPr lang="en-US" dirty="0"/>
              <a:t>Dynamic range</a:t>
            </a:r>
          </a:p>
          <a:p>
            <a:r>
              <a:rPr lang="en-US" dirty="0"/>
              <a:t>Telemetry bandwidth</a:t>
            </a:r>
          </a:p>
          <a:p>
            <a:r>
              <a:rPr lang="en-US" dirty="0"/>
              <a:t>Buffering &amp; latency</a:t>
            </a:r>
          </a:p>
          <a:p>
            <a:r>
              <a:rPr lang="en-US" b="1" dirty="0"/>
              <a:t>Speaker notes:</a:t>
            </a:r>
            <a:br>
              <a:rPr lang="en-US" dirty="0"/>
            </a:br>
            <a:r>
              <a:rPr lang="en-US" dirty="0"/>
              <a:t>This slide is the bridge to the lab. Everything here comes directly from digitizer physics and data flow.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Large-N arrays eliminate manual inspection and require automated workflows.</a:t>
            </a:r>
            <a:r>
              <a:rPr lang="en-US" dirty="0"/>
              <a:t> Hundreds to tens of thousands of sensors</a:t>
            </a:r>
          </a:p>
          <a:p>
            <a:r>
              <a:rPr lang="en-US" dirty="0"/>
              <a:t>Battery powered</a:t>
            </a:r>
          </a:p>
          <a:p>
            <a:r>
              <a:rPr lang="en-US" dirty="0"/>
              <a:t>No real-time telemetry</a:t>
            </a:r>
          </a:p>
          <a:p>
            <a:r>
              <a:rPr lang="en-US" dirty="0"/>
              <a:t>Massive post-processing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. </a:t>
            </a:r>
            <a:r>
              <a:rPr lang="en-US" b="1" dirty="0"/>
              <a:t>Speaker notes:</a:t>
            </a:r>
            <a:br>
              <a:rPr lang="en-US" dirty="0"/>
            </a:br>
            <a:r>
              <a:rPr lang="en-US" dirty="0"/>
              <a:t>Once N gets large, humans are out of the loop. Automation is no longer optional — it’s survival.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DAS flips the problem: spatial sampling is easy, computation is hard.</a:t>
            </a:r>
            <a:r>
              <a:rPr lang="en-US" dirty="0"/>
              <a:t> Fiber-optic cables as sensors</a:t>
            </a:r>
          </a:p>
          <a:p>
            <a:r>
              <a:rPr lang="en-US" dirty="0"/>
              <a:t>Meter-scale spacing</a:t>
            </a:r>
          </a:p>
          <a:p>
            <a:r>
              <a:rPr lang="en-US" dirty="0"/>
              <a:t>Enormous data rates</a:t>
            </a:r>
          </a:p>
          <a:p>
            <a:r>
              <a:rPr lang="en-US" dirty="0"/>
              <a:t>GPU-scale processing</a:t>
            </a:r>
          </a:p>
          <a:p>
            <a:r>
              <a:rPr lang="en-US" dirty="0"/>
              <a:t>DAS flips the problem: spatial sampling becomes trivial, computation becomes the bottleneck.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Citizen seismology assumes cloud infrastructure from day one.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Low-cost digital instruments</a:t>
            </a:r>
          </a:p>
          <a:p>
            <a:r>
              <a:rPr lang="en-US" dirty="0"/>
              <a:t>Cloud-connected by default</a:t>
            </a:r>
          </a:p>
          <a:p>
            <a:r>
              <a:rPr lang="en-US" dirty="0"/>
              <a:t>Dense informal networks</a:t>
            </a:r>
          </a:p>
          <a:p>
            <a:r>
              <a:rPr lang="en-US" dirty="0"/>
              <a:t>Public engagement</a:t>
            </a:r>
            <a:br>
              <a:rPr lang="en-US" dirty="0"/>
            </a:br>
            <a:r>
              <a:rPr lang="en-US" dirty="0"/>
              <a:t>These systems assume Internet, cloud storage, and automation from day one — very different design philosophy.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Tie instrumentation history back to computing history from Notebook 1.</a:t>
            </a:r>
            <a:r>
              <a:rPr lang="en-US" dirty="0"/>
              <a:t> </a:t>
            </a:r>
            <a:r>
              <a:rPr lang="en-US" b="1" dirty="0"/>
              <a:t>On slide (table or bullets):</a:t>
            </a:r>
            <a:endParaRPr lang="en-US" dirty="0"/>
          </a:p>
          <a:p>
            <a:r>
              <a:rPr lang="en-US" dirty="0"/>
              <a:t>Analog drums → human interpretation</a:t>
            </a:r>
          </a:p>
          <a:p>
            <a:r>
              <a:rPr lang="en-US" dirty="0"/>
              <a:t>Broadband sensors → digitization</a:t>
            </a:r>
          </a:p>
          <a:p>
            <a:r>
              <a:rPr lang="en-US" dirty="0"/>
              <a:t>Networked digitizers → real-time processing</a:t>
            </a:r>
          </a:p>
          <a:p>
            <a:r>
              <a:rPr lang="en-US" dirty="0"/>
              <a:t>Nodal &amp; DAS → automation &amp; GPUs</a:t>
            </a:r>
          </a:p>
          <a:p>
            <a:r>
              <a:rPr lang="en-US" b="1" dirty="0"/>
              <a:t>Speaker notes:</a:t>
            </a:r>
            <a:br>
              <a:rPr lang="en-US" dirty="0"/>
            </a:br>
            <a:r>
              <a:rPr lang="en-US" dirty="0"/>
              <a:t>Every major computational shift we discussed in Notebook 1 has an instrumentation driver behind it. 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Make clear that digitizer configuration affects science outcomes.</a:t>
            </a:r>
            <a:r>
              <a:rPr lang="en-US" dirty="0"/>
              <a:t> </a:t>
            </a:r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Digitizers are the boundary between physics &amp; computation</a:t>
            </a:r>
          </a:p>
          <a:p>
            <a:r>
              <a:rPr lang="en-US" dirty="0"/>
              <a:t>ADCs determine what is measurable</a:t>
            </a:r>
          </a:p>
          <a:p>
            <a:r>
              <a:rPr lang="en-US" dirty="0"/>
              <a:t>Sampling &amp; quantization are </a:t>
            </a:r>
            <a:r>
              <a:rPr lang="en-US" i="1" dirty="0"/>
              <a:t>instrument design decisions</a:t>
            </a:r>
            <a:endParaRPr lang="en-US" dirty="0"/>
          </a:p>
          <a:p>
            <a:r>
              <a:rPr lang="en-US" b="1" dirty="0"/>
              <a:t>Speaker notes:</a:t>
            </a:r>
            <a:br>
              <a:rPr lang="en-US" dirty="0"/>
            </a:br>
            <a:r>
              <a:rPr lang="en-US" dirty="0"/>
              <a:t>When you configure a digitizer, you are making scientific choices — not just IT choices.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Close by setting up the lab and reinforcing the systems-thinking mindset.</a:t>
            </a:r>
            <a:r>
              <a:rPr lang="en-US" dirty="0"/>
              <a:t> </a:t>
            </a:r>
            <a:r>
              <a:rPr lang="en-US" b="1" dirty="0"/>
              <a:t>On slide:</a:t>
            </a:r>
            <a:endParaRPr lang="en-US" dirty="0"/>
          </a:p>
          <a:p>
            <a:r>
              <a:rPr lang="en-US" dirty="0"/>
              <a:t>Next: ADCs, sampling, quantization</a:t>
            </a:r>
          </a:p>
          <a:p>
            <a:r>
              <a:rPr lang="en-US" dirty="0"/>
              <a:t>Then: installing &amp; servicing a station</a:t>
            </a:r>
          </a:p>
          <a:p>
            <a:r>
              <a:rPr lang="en-US" dirty="0"/>
              <a:t>Question to hold onto:</a:t>
            </a:r>
            <a:br>
              <a:rPr lang="en-US" dirty="0"/>
            </a:br>
            <a:r>
              <a:rPr lang="en-US" b="1" dirty="0"/>
              <a:t>What problem did this instrument solve — and what new problem did it create?</a:t>
            </a:r>
            <a:endParaRPr lang="en-US" dirty="0"/>
          </a:p>
          <a:p>
            <a:r>
              <a:rPr lang="en-US" b="1"/>
              <a:t>Speaker notes:</a:t>
            </a:r>
            <a:br>
              <a:rPr lang="en-US"/>
            </a:br>
            <a:r>
              <a:rPr lang="en-US"/>
              <a:t>That question will guide everything we do this week.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Seismic Instrumentation as a Computational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analog drums to nodal arrays and DAS</a:t>
            </a:r>
          </a:p>
          <a:p>
            <a:pPr lvl="1"/>
            <a:r>
              <a:t>Instrumentation choices drive computation</a:t>
            </a:r>
          </a:p>
          <a:p>
            <a:pPr lvl="1"/>
            <a:r>
              <a:t>Foundation for ADCs, sampling, and digitizers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/>
              <a:t>Why Instrumentation = Computation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/>
              <a:t>Sensors, telemetry, digitizers, storage, processing are inseparable</a:t>
            </a:r>
          </a:p>
          <a:p>
            <a:pPr lvl="1"/>
            <a:r>
              <a:rPr lang="en-US" sz="1900"/>
              <a:t>Each instrumentation advance forces computational change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4777739"/>
            <a:ext cx="2564242" cy="141211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900"/>
              <a:t>Analog Seismology (Pre-Digital Era)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76AF10E-927B-D80B-C172-34F2DC51C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64" b="15067"/>
          <a:stretch>
            <a:fillRect/>
          </a:stretch>
        </p:blipFill>
        <p:spPr bwMode="auto">
          <a:xfrm>
            <a:off x="20" y="10"/>
            <a:ext cx="9143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2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74529" y="5470492"/>
            <a:ext cx="1371600" cy="13716"/>
          </a:xfrm>
          <a:custGeom>
            <a:avLst/>
            <a:gdLst>
              <a:gd name="csX0" fmla="*/ 0 w 1371600"/>
              <a:gd name="csY0" fmla="*/ 0 h 13716"/>
              <a:gd name="csX1" fmla="*/ 685800 w 1371600"/>
              <a:gd name="csY1" fmla="*/ 0 h 13716"/>
              <a:gd name="csX2" fmla="*/ 1371600 w 1371600"/>
              <a:gd name="csY2" fmla="*/ 0 h 13716"/>
              <a:gd name="csX3" fmla="*/ 1371600 w 1371600"/>
              <a:gd name="csY3" fmla="*/ 13716 h 13716"/>
              <a:gd name="csX4" fmla="*/ 713232 w 1371600"/>
              <a:gd name="csY4" fmla="*/ 13716 h 13716"/>
              <a:gd name="csX5" fmla="*/ 0 w 1371600"/>
              <a:gd name="csY5" fmla="*/ 13716 h 13716"/>
              <a:gd name="csX6" fmla="*/ 0 w 1371600"/>
              <a:gd name="csY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3716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127" y="2892"/>
                  <a:pt x="1371229" y="8681"/>
                  <a:pt x="1371600" y="13716"/>
                </a:cubicBezTo>
                <a:cubicBezTo>
                  <a:pt x="1107995" y="21892"/>
                  <a:pt x="1033361" y="28370"/>
                  <a:pt x="713232" y="13716"/>
                </a:cubicBezTo>
                <a:cubicBezTo>
                  <a:pt x="393103" y="-938"/>
                  <a:pt x="289343" y="38649"/>
                  <a:pt x="0" y="13716"/>
                </a:cubicBezTo>
                <a:cubicBezTo>
                  <a:pt x="227" y="7219"/>
                  <a:pt x="197" y="5990"/>
                  <a:pt x="0" y="0"/>
                </a:cubicBezTo>
                <a:close/>
              </a:path>
              <a:path w="1371600" h="13716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228" y="6235"/>
                  <a:pt x="1371259" y="10206"/>
                  <a:pt x="1371600" y="13716"/>
                </a:cubicBezTo>
                <a:cubicBezTo>
                  <a:pt x="1176823" y="-5981"/>
                  <a:pt x="900830" y="5417"/>
                  <a:pt x="713232" y="13716"/>
                </a:cubicBezTo>
                <a:cubicBezTo>
                  <a:pt x="525634" y="22015"/>
                  <a:pt x="282837" y="1152"/>
                  <a:pt x="0" y="13716"/>
                </a:cubicBezTo>
                <a:cubicBezTo>
                  <a:pt x="596" y="8712"/>
                  <a:pt x="320" y="342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0" y="4777739"/>
            <a:ext cx="5173220" cy="139922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900"/>
              <a:t>Short-period electromagnetic seismometers</a:t>
            </a:r>
          </a:p>
          <a:p>
            <a:pPr lvl="1">
              <a:lnSpc>
                <a:spcPct val="90000"/>
              </a:lnSpc>
            </a:pPr>
            <a:r>
              <a:rPr lang="en-US" sz="1900"/>
              <a:t>Analog telemetry</a:t>
            </a:r>
          </a:p>
          <a:p>
            <a:pPr lvl="1">
              <a:lnSpc>
                <a:spcPct val="90000"/>
              </a:lnSpc>
            </a:pPr>
            <a:r>
              <a:rPr lang="en-US" sz="1900"/>
              <a:t>Paper drum helicorders</a:t>
            </a:r>
          </a:p>
          <a:p>
            <a:pPr lvl="1">
              <a:lnSpc>
                <a:spcPct val="90000"/>
              </a:lnSpc>
            </a:pPr>
            <a:r>
              <a:rPr lang="en-US" sz="1900"/>
              <a:t>Human interpretation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Constraints of Analog Systems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/>
              <a:t>Limited dynamic range</a:t>
            </a:r>
          </a:p>
          <a:p>
            <a:pPr lvl="1"/>
            <a:r>
              <a:rPr lang="en-US" sz="1900"/>
              <a:t>Mechanical saturation</a:t>
            </a:r>
          </a:p>
          <a:p>
            <a:pPr lvl="1"/>
            <a:r>
              <a:rPr lang="en-US" sz="1900"/>
              <a:t>No automation or replay</a:t>
            </a:r>
          </a:p>
          <a:p>
            <a:pPr lvl="1"/>
            <a:r>
              <a:rPr lang="en-US" sz="1900"/>
              <a:t>Manual phase picking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9" name="Rectangle 2058">
            <a:extLst>
              <a:ext uri="{FF2B5EF4-FFF2-40B4-BE49-F238E27FC236}">
                <a16:creationId xmlns:a16="http://schemas.microsoft.com/office/drawing/2014/main" id="{53B475F8-50AE-46A0-9943-B2B63183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486" y="365125"/>
            <a:ext cx="5239511" cy="1776484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/>
              <a:t>WWSSN: Global Standardization (1960s)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21AB96B-DCCA-FD2F-AC4A-594949598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84556" y="542755"/>
            <a:ext cx="2649027" cy="1328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1" name="sketch line">
            <a:extLst>
              <a:ext uri="{FF2B5EF4-FFF2-40B4-BE49-F238E27FC236}">
                <a16:creationId xmlns:a16="http://schemas.microsoft.com/office/drawing/2014/main" id="{75F6FDB4-2351-48C2-A863-2364A0234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2315691"/>
            <a:ext cx="3257550" cy="18288"/>
          </a:xfrm>
          <a:custGeom>
            <a:avLst/>
            <a:gdLst>
              <a:gd name="csX0" fmla="*/ 0 w 3257550"/>
              <a:gd name="csY0" fmla="*/ 0 h 18288"/>
              <a:gd name="csX1" fmla="*/ 618935 w 3257550"/>
              <a:gd name="csY1" fmla="*/ 0 h 18288"/>
              <a:gd name="csX2" fmla="*/ 1270445 w 3257550"/>
              <a:gd name="csY2" fmla="*/ 0 h 18288"/>
              <a:gd name="csX3" fmla="*/ 1954530 w 3257550"/>
              <a:gd name="csY3" fmla="*/ 0 h 18288"/>
              <a:gd name="csX4" fmla="*/ 2638616 w 3257550"/>
              <a:gd name="csY4" fmla="*/ 0 h 18288"/>
              <a:gd name="csX5" fmla="*/ 3257550 w 3257550"/>
              <a:gd name="csY5" fmla="*/ 0 h 18288"/>
              <a:gd name="csX6" fmla="*/ 3257550 w 3257550"/>
              <a:gd name="csY6" fmla="*/ 18288 h 18288"/>
              <a:gd name="csX7" fmla="*/ 2540889 w 3257550"/>
              <a:gd name="csY7" fmla="*/ 18288 h 18288"/>
              <a:gd name="csX8" fmla="*/ 1824228 w 3257550"/>
              <a:gd name="csY8" fmla="*/ 18288 h 18288"/>
              <a:gd name="csX9" fmla="*/ 1172718 w 3257550"/>
              <a:gd name="csY9" fmla="*/ 18288 h 18288"/>
              <a:gd name="csX10" fmla="*/ 0 w 3257550"/>
              <a:gd name="csY10" fmla="*/ 18288 h 18288"/>
              <a:gd name="csX11" fmla="*/ 0 w 3257550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7550" h="18288" fill="none" extrusionOk="0">
                <a:moveTo>
                  <a:pt x="0" y="0"/>
                </a:moveTo>
                <a:cubicBezTo>
                  <a:pt x="222571" y="-4581"/>
                  <a:pt x="395946" y="-20429"/>
                  <a:pt x="618935" y="0"/>
                </a:cubicBezTo>
                <a:cubicBezTo>
                  <a:pt x="841925" y="20429"/>
                  <a:pt x="1064831" y="-497"/>
                  <a:pt x="1270445" y="0"/>
                </a:cubicBezTo>
                <a:cubicBezTo>
                  <a:pt x="1476059" y="497"/>
                  <a:pt x="1673547" y="428"/>
                  <a:pt x="1954530" y="0"/>
                </a:cubicBezTo>
                <a:cubicBezTo>
                  <a:pt x="2235513" y="-428"/>
                  <a:pt x="2452407" y="27906"/>
                  <a:pt x="2638616" y="0"/>
                </a:cubicBezTo>
                <a:cubicBezTo>
                  <a:pt x="2824825" y="-27906"/>
                  <a:pt x="3043878" y="-22618"/>
                  <a:pt x="3257550" y="0"/>
                </a:cubicBezTo>
                <a:cubicBezTo>
                  <a:pt x="3256841" y="8157"/>
                  <a:pt x="3257137" y="12125"/>
                  <a:pt x="3257550" y="18288"/>
                </a:cubicBezTo>
                <a:cubicBezTo>
                  <a:pt x="2955505" y="29918"/>
                  <a:pt x="2697243" y="41720"/>
                  <a:pt x="2540889" y="18288"/>
                </a:cubicBezTo>
                <a:cubicBezTo>
                  <a:pt x="2384535" y="-5144"/>
                  <a:pt x="2114539" y="6231"/>
                  <a:pt x="1824228" y="18288"/>
                </a:cubicBezTo>
                <a:cubicBezTo>
                  <a:pt x="1533917" y="30345"/>
                  <a:pt x="1462450" y="24037"/>
                  <a:pt x="1172718" y="18288"/>
                </a:cubicBezTo>
                <a:cubicBezTo>
                  <a:pt x="882986" y="12540"/>
                  <a:pt x="500637" y="24492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7550" h="18288" stroke="0" extrusionOk="0">
                <a:moveTo>
                  <a:pt x="0" y="0"/>
                </a:moveTo>
                <a:cubicBezTo>
                  <a:pt x="278434" y="16845"/>
                  <a:pt x="441207" y="-24568"/>
                  <a:pt x="618935" y="0"/>
                </a:cubicBezTo>
                <a:cubicBezTo>
                  <a:pt x="796663" y="24568"/>
                  <a:pt x="985120" y="5689"/>
                  <a:pt x="1172718" y="0"/>
                </a:cubicBezTo>
                <a:cubicBezTo>
                  <a:pt x="1360316" y="-5689"/>
                  <a:pt x="1666432" y="29765"/>
                  <a:pt x="1889379" y="0"/>
                </a:cubicBezTo>
                <a:cubicBezTo>
                  <a:pt x="2112326" y="-29765"/>
                  <a:pt x="2378171" y="13184"/>
                  <a:pt x="2508314" y="0"/>
                </a:cubicBezTo>
                <a:cubicBezTo>
                  <a:pt x="2638457" y="-13184"/>
                  <a:pt x="2897393" y="-18048"/>
                  <a:pt x="3257550" y="0"/>
                </a:cubicBezTo>
                <a:cubicBezTo>
                  <a:pt x="3257286" y="4493"/>
                  <a:pt x="3257934" y="9472"/>
                  <a:pt x="3257550" y="18288"/>
                </a:cubicBezTo>
                <a:cubicBezTo>
                  <a:pt x="3005417" y="4399"/>
                  <a:pt x="2789824" y="23493"/>
                  <a:pt x="2606040" y="18288"/>
                </a:cubicBezTo>
                <a:cubicBezTo>
                  <a:pt x="2422256" y="13084"/>
                  <a:pt x="2161816" y="17045"/>
                  <a:pt x="1889379" y="18288"/>
                </a:cubicBezTo>
                <a:cubicBezTo>
                  <a:pt x="1616942" y="19531"/>
                  <a:pt x="1456938" y="28545"/>
                  <a:pt x="1335595" y="18288"/>
                </a:cubicBezTo>
                <a:cubicBezTo>
                  <a:pt x="1214252" y="8031"/>
                  <a:pt x="876335" y="26295"/>
                  <a:pt x="684085" y="18288"/>
                </a:cubicBezTo>
                <a:cubicBezTo>
                  <a:pt x="491835" y="10282"/>
                  <a:pt x="213058" y="3432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486" y="2504819"/>
            <a:ext cx="5239512" cy="3672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/>
              <a:t>World-Wide Standardized Seismograph Network</a:t>
            </a:r>
          </a:p>
          <a:p>
            <a:r>
              <a:rPr lang="en-US" sz="1900" dirty="0"/>
              <a:t>Identical instruments worldwide</a:t>
            </a:r>
          </a:p>
          <a:p>
            <a:pPr lvl="1"/>
            <a:r>
              <a:rPr lang="en-US" sz="1900" dirty="0"/>
              <a:t>Cold War nuclear-test monitoring</a:t>
            </a:r>
          </a:p>
          <a:p>
            <a:pPr lvl="1"/>
            <a:r>
              <a:rPr lang="en-US" sz="1900" dirty="0"/>
              <a:t>Birth of global catalogs</a:t>
            </a:r>
          </a:p>
          <a:p>
            <a:pPr lvl="1"/>
            <a:r>
              <a:rPr lang="en-US" sz="1900" dirty="0"/>
              <a:t>Evidence for plate tectonics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79D10010-5A8C-AA24-3A16-F6B138028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99277" y="2310086"/>
            <a:ext cx="2020880" cy="1890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0D4070F9-6E0F-036F-EB09-483F3DEAF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85852" y="4366656"/>
            <a:ext cx="2647731" cy="1873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7A203437-703A-4E00-A8C0-91D328D6C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3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756" y="502400"/>
            <a:ext cx="2525379" cy="1818064"/>
          </a:xfrm>
        </p:spPr>
        <p:txBody>
          <a:bodyPr>
            <a:normAutofit/>
          </a:bodyPr>
          <a:lstStyle/>
          <a:p>
            <a:r>
              <a:rPr lang="en-US" sz="2400"/>
              <a:t>Broadband Seismometers (Late 1980s)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5CDD2D5-D212-BB59-DBD4-442D90F1C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5" r="1" b="1"/>
          <a:stretch>
            <a:fillRect/>
          </a:stretch>
        </p:blipFill>
        <p:spPr bwMode="auto">
          <a:xfrm>
            <a:off x="3416427" y="6"/>
            <a:ext cx="5727572" cy="2762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Rectangle 3082">
            <a:extLst>
              <a:ext uri="{FF2B5EF4-FFF2-40B4-BE49-F238E27FC236}">
                <a16:creationId xmlns:a16="http://schemas.microsoft.com/office/drawing/2014/main" id="{CD84038B-4A56-439B-A184-79B2D4506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62729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E61929C-E1B5-1228-8B3E-C639D7455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" r="-2" b="-2"/>
          <a:stretch>
            <a:fillRect/>
          </a:stretch>
        </p:blipFill>
        <p:spPr bwMode="auto">
          <a:xfrm>
            <a:off x="20" y="2826737"/>
            <a:ext cx="3424313" cy="403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224" y="3455208"/>
            <a:ext cx="4306824" cy="2344708"/>
          </a:xfrm>
        </p:spPr>
        <p:txBody>
          <a:bodyPr anchor="ctr">
            <a:normAutofit/>
          </a:bodyPr>
          <a:lstStyle/>
          <a:p>
            <a:r>
              <a:rPr lang="en-US" sz="1700"/>
              <a:t>Force-balance feedback sensors</a:t>
            </a:r>
          </a:p>
          <a:p>
            <a:pPr lvl="1"/>
            <a:r>
              <a:rPr lang="en-US" sz="1700"/>
              <a:t>Wide frequency band</a:t>
            </a:r>
          </a:p>
          <a:p>
            <a:pPr lvl="1"/>
            <a:r>
              <a:rPr lang="en-US" sz="1700"/>
              <a:t>Huge dynamic range</a:t>
            </a:r>
          </a:p>
          <a:p>
            <a:pPr lvl="1"/>
            <a:r>
              <a:rPr lang="en-US" sz="1700"/>
              <a:t>Analog telemetry inadequate</a:t>
            </a:r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4F96EE13-2C4D-4262-812E-DDE5FC35F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429" y="3404996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Digitization Becomes Mandatory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3425810" cy="1831436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Analog links clip broadband signals</a:t>
            </a:r>
          </a:p>
          <a:p>
            <a:pPr lvl="1"/>
            <a:r>
              <a:rPr dirty="0"/>
              <a:t>Digitization moves closer to the sensor</a:t>
            </a:r>
          </a:p>
          <a:p>
            <a:pPr lvl="1"/>
            <a:r>
              <a:rPr dirty="0"/>
              <a:t>ADCs become central design elements</a:t>
            </a:r>
            <a:endParaRPr lang="en-US" dirty="0"/>
          </a:p>
          <a:p>
            <a:pPr lvl="1"/>
            <a:endParaRPr lang="en-US" dirty="0"/>
          </a:p>
          <a:p>
            <a:pPr lvl="1"/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29184"/>
            <a:ext cx="5170932" cy="1783080"/>
          </a:xfrm>
        </p:spPr>
        <p:txBody>
          <a:bodyPr anchor="b">
            <a:normAutofit/>
          </a:bodyPr>
          <a:lstStyle/>
          <a:p>
            <a:r>
              <a:rPr lang="en-US" sz="4700"/>
              <a:t>Digitizers Become Computers (2000s)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214" y="2395728"/>
            <a:ext cx="3182691" cy="18288"/>
          </a:xfrm>
          <a:custGeom>
            <a:avLst/>
            <a:gdLst>
              <a:gd name="csX0" fmla="*/ 0 w 3182691"/>
              <a:gd name="csY0" fmla="*/ 0 h 18288"/>
              <a:gd name="csX1" fmla="*/ 636538 w 3182691"/>
              <a:gd name="csY1" fmla="*/ 0 h 18288"/>
              <a:gd name="csX2" fmla="*/ 1273076 w 3182691"/>
              <a:gd name="csY2" fmla="*/ 0 h 18288"/>
              <a:gd name="csX3" fmla="*/ 1909615 w 3182691"/>
              <a:gd name="csY3" fmla="*/ 0 h 18288"/>
              <a:gd name="csX4" fmla="*/ 2482499 w 3182691"/>
              <a:gd name="csY4" fmla="*/ 0 h 18288"/>
              <a:gd name="csX5" fmla="*/ 3182691 w 3182691"/>
              <a:gd name="csY5" fmla="*/ 0 h 18288"/>
              <a:gd name="csX6" fmla="*/ 3182691 w 3182691"/>
              <a:gd name="csY6" fmla="*/ 18288 h 18288"/>
              <a:gd name="csX7" fmla="*/ 2609807 w 3182691"/>
              <a:gd name="csY7" fmla="*/ 18288 h 18288"/>
              <a:gd name="csX8" fmla="*/ 2068749 w 3182691"/>
              <a:gd name="csY8" fmla="*/ 18288 h 18288"/>
              <a:gd name="csX9" fmla="*/ 1432211 w 3182691"/>
              <a:gd name="csY9" fmla="*/ 18288 h 18288"/>
              <a:gd name="csX10" fmla="*/ 859327 w 3182691"/>
              <a:gd name="csY10" fmla="*/ 18288 h 18288"/>
              <a:gd name="csX11" fmla="*/ 0 w 3182691"/>
              <a:gd name="csY11" fmla="*/ 18288 h 18288"/>
              <a:gd name="csX12" fmla="*/ 0 w 3182691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1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13406" y="3458"/>
                  <a:pt x="1273076" y="0"/>
                </a:cubicBezTo>
                <a:cubicBezTo>
                  <a:pt x="1532746" y="-3458"/>
                  <a:pt x="1697408" y="-16840"/>
                  <a:pt x="1909615" y="0"/>
                </a:cubicBezTo>
                <a:cubicBezTo>
                  <a:pt x="2121822" y="16840"/>
                  <a:pt x="2213494" y="-18555"/>
                  <a:pt x="2482499" y="0"/>
                </a:cubicBezTo>
                <a:cubicBezTo>
                  <a:pt x="2751504" y="18555"/>
                  <a:pt x="3004132" y="-28750"/>
                  <a:pt x="3182691" y="0"/>
                </a:cubicBezTo>
                <a:cubicBezTo>
                  <a:pt x="3183133" y="4516"/>
                  <a:pt x="3181864" y="12266"/>
                  <a:pt x="3182691" y="18288"/>
                </a:cubicBezTo>
                <a:cubicBezTo>
                  <a:pt x="2947041" y="16687"/>
                  <a:pt x="2875741" y="22937"/>
                  <a:pt x="2609807" y="18288"/>
                </a:cubicBezTo>
                <a:cubicBezTo>
                  <a:pt x="2343873" y="13639"/>
                  <a:pt x="2331203" y="31729"/>
                  <a:pt x="2068749" y="18288"/>
                </a:cubicBezTo>
                <a:cubicBezTo>
                  <a:pt x="1806295" y="4847"/>
                  <a:pt x="1713773" y="47088"/>
                  <a:pt x="1432211" y="18288"/>
                </a:cubicBezTo>
                <a:cubicBezTo>
                  <a:pt x="1150649" y="-10512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1" h="18288" stroke="0" extrusionOk="0">
                <a:moveTo>
                  <a:pt x="0" y="0"/>
                </a:moveTo>
                <a:cubicBezTo>
                  <a:pt x="247695" y="-19360"/>
                  <a:pt x="392581" y="-28596"/>
                  <a:pt x="572884" y="0"/>
                </a:cubicBezTo>
                <a:cubicBezTo>
                  <a:pt x="753187" y="28596"/>
                  <a:pt x="922042" y="4121"/>
                  <a:pt x="1113942" y="0"/>
                </a:cubicBezTo>
                <a:cubicBezTo>
                  <a:pt x="1305842" y="-4121"/>
                  <a:pt x="1501806" y="28092"/>
                  <a:pt x="1686826" y="0"/>
                </a:cubicBezTo>
                <a:cubicBezTo>
                  <a:pt x="1871846" y="-28092"/>
                  <a:pt x="2170181" y="-20672"/>
                  <a:pt x="2323364" y="0"/>
                </a:cubicBezTo>
                <a:cubicBezTo>
                  <a:pt x="2476547" y="20672"/>
                  <a:pt x="2919163" y="6097"/>
                  <a:pt x="3182691" y="0"/>
                </a:cubicBezTo>
                <a:cubicBezTo>
                  <a:pt x="3183268" y="4624"/>
                  <a:pt x="3183510" y="11191"/>
                  <a:pt x="3182691" y="18288"/>
                </a:cubicBezTo>
                <a:cubicBezTo>
                  <a:pt x="3026064" y="-10849"/>
                  <a:pt x="2775005" y="23067"/>
                  <a:pt x="2546153" y="18288"/>
                </a:cubicBezTo>
                <a:cubicBezTo>
                  <a:pt x="2317301" y="13509"/>
                  <a:pt x="2164351" y="-9884"/>
                  <a:pt x="1845961" y="18288"/>
                </a:cubicBezTo>
                <a:cubicBezTo>
                  <a:pt x="1527571" y="46460"/>
                  <a:pt x="1455006" y="5824"/>
                  <a:pt x="1304903" y="18288"/>
                </a:cubicBezTo>
                <a:cubicBezTo>
                  <a:pt x="1154800" y="30752"/>
                  <a:pt x="942107" y="-12056"/>
                  <a:pt x="604711" y="18288"/>
                </a:cubicBezTo>
                <a:cubicBezTo>
                  <a:pt x="267315" y="48632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706624"/>
            <a:ext cx="5170932" cy="3483864"/>
          </a:xfrm>
        </p:spPr>
        <p:txBody>
          <a:bodyPr>
            <a:normAutofit/>
          </a:bodyPr>
          <a:lstStyle/>
          <a:p>
            <a:r>
              <a:rPr lang="en-US" sz="1900"/>
              <a:t>Embedded CPUs</a:t>
            </a:r>
          </a:p>
          <a:p>
            <a:pPr lvl="1"/>
            <a:r>
              <a:rPr lang="en-US" sz="1900"/>
              <a:t>GPS timing</a:t>
            </a:r>
          </a:p>
          <a:p>
            <a:pPr lvl="1"/>
            <a:r>
              <a:rPr lang="en-US" sz="1900"/>
              <a:t>Ethernet / IP networking</a:t>
            </a:r>
          </a:p>
          <a:p>
            <a:pPr lvl="1"/>
            <a:r>
              <a:rPr lang="en-US" sz="1900"/>
              <a:t>Remote configuration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65B031A5-B4FE-0961-627D-67AFFEF1E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97880" y="538836"/>
            <a:ext cx="3010662" cy="3010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52038533-0E01-DEC9-3B6C-B63F08E76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97880" y="4792711"/>
            <a:ext cx="2996946" cy="749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Digitizers Force Us to Care About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Sampling rate</a:t>
            </a:r>
          </a:p>
          <a:p>
            <a:pPr lvl="1"/>
            <a:r>
              <a:t>Bit depth and quantization</a:t>
            </a:r>
          </a:p>
          <a:p>
            <a:pPr lvl="1"/>
            <a:r>
              <a:t>Dynamic range</a:t>
            </a:r>
          </a:p>
          <a:p>
            <a:pPr lvl="1"/>
            <a:r>
              <a:t>Telemetry bandwidth</a:t>
            </a:r>
          </a:p>
          <a:p>
            <a:pPr lvl="1"/>
            <a:r>
              <a:t>Buffering and latency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3" name="Rectangle 6152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29184"/>
            <a:ext cx="5170932" cy="178308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/>
              <a:t>Large-N Instrumentation: Nodal Arrays</a:t>
            </a:r>
          </a:p>
        </p:txBody>
      </p:sp>
      <p:sp>
        <p:nvSpPr>
          <p:cNvPr id="615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214" y="2395728"/>
            <a:ext cx="3182691" cy="18288"/>
          </a:xfrm>
          <a:custGeom>
            <a:avLst/>
            <a:gdLst>
              <a:gd name="csX0" fmla="*/ 0 w 3182691"/>
              <a:gd name="csY0" fmla="*/ 0 h 18288"/>
              <a:gd name="csX1" fmla="*/ 636538 w 3182691"/>
              <a:gd name="csY1" fmla="*/ 0 h 18288"/>
              <a:gd name="csX2" fmla="*/ 1273076 w 3182691"/>
              <a:gd name="csY2" fmla="*/ 0 h 18288"/>
              <a:gd name="csX3" fmla="*/ 1909615 w 3182691"/>
              <a:gd name="csY3" fmla="*/ 0 h 18288"/>
              <a:gd name="csX4" fmla="*/ 2482499 w 3182691"/>
              <a:gd name="csY4" fmla="*/ 0 h 18288"/>
              <a:gd name="csX5" fmla="*/ 3182691 w 3182691"/>
              <a:gd name="csY5" fmla="*/ 0 h 18288"/>
              <a:gd name="csX6" fmla="*/ 3182691 w 3182691"/>
              <a:gd name="csY6" fmla="*/ 18288 h 18288"/>
              <a:gd name="csX7" fmla="*/ 2609807 w 3182691"/>
              <a:gd name="csY7" fmla="*/ 18288 h 18288"/>
              <a:gd name="csX8" fmla="*/ 2068749 w 3182691"/>
              <a:gd name="csY8" fmla="*/ 18288 h 18288"/>
              <a:gd name="csX9" fmla="*/ 1432211 w 3182691"/>
              <a:gd name="csY9" fmla="*/ 18288 h 18288"/>
              <a:gd name="csX10" fmla="*/ 859327 w 3182691"/>
              <a:gd name="csY10" fmla="*/ 18288 h 18288"/>
              <a:gd name="csX11" fmla="*/ 0 w 3182691"/>
              <a:gd name="csY11" fmla="*/ 18288 h 18288"/>
              <a:gd name="csX12" fmla="*/ 0 w 3182691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1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13406" y="3458"/>
                  <a:pt x="1273076" y="0"/>
                </a:cubicBezTo>
                <a:cubicBezTo>
                  <a:pt x="1532746" y="-3458"/>
                  <a:pt x="1697408" y="-16840"/>
                  <a:pt x="1909615" y="0"/>
                </a:cubicBezTo>
                <a:cubicBezTo>
                  <a:pt x="2121822" y="16840"/>
                  <a:pt x="2213494" y="-18555"/>
                  <a:pt x="2482499" y="0"/>
                </a:cubicBezTo>
                <a:cubicBezTo>
                  <a:pt x="2751504" y="18555"/>
                  <a:pt x="3004132" y="-28750"/>
                  <a:pt x="3182691" y="0"/>
                </a:cubicBezTo>
                <a:cubicBezTo>
                  <a:pt x="3183133" y="4516"/>
                  <a:pt x="3181864" y="12266"/>
                  <a:pt x="3182691" y="18288"/>
                </a:cubicBezTo>
                <a:cubicBezTo>
                  <a:pt x="2947041" y="16687"/>
                  <a:pt x="2875741" y="22937"/>
                  <a:pt x="2609807" y="18288"/>
                </a:cubicBezTo>
                <a:cubicBezTo>
                  <a:pt x="2343873" y="13639"/>
                  <a:pt x="2331203" y="31729"/>
                  <a:pt x="2068749" y="18288"/>
                </a:cubicBezTo>
                <a:cubicBezTo>
                  <a:pt x="1806295" y="4847"/>
                  <a:pt x="1713773" y="47088"/>
                  <a:pt x="1432211" y="18288"/>
                </a:cubicBezTo>
                <a:cubicBezTo>
                  <a:pt x="1150649" y="-10512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1" h="18288" stroke="0" extrusionOk="0">
                <a:moveTo>
                  <a:pt x="0" y="0"/>
                </a:moveTo>
                <a:cubicBezTo>
                  <a:pt x="247695" y="-19360"/>
                  <a:pt x="392581" y="-28596"/>
                  <a:pt x="572884" y="0"/>
                </a:cubicBezTo>
                <a:cubicBezTo>
                  <a:pt x="753187" y="28596"/>
                  <a:pt x="922042" y="4121"/>
                  <a:pt x="1113942" y="0"/>
                </a:cubicBezTo>
                <a:cubicBezTo>
                  <a:pt x="1305842" y="-4121"/>
                  <a:pt x="1501806" y="28092"/>
                  <a:pt x="1686826" y="0"/>
                </a:cubicBezTo>
                <a:cubicBezTo>
                  <a:pt x="1871846" y="-28092"/>
                  <a:pt x="2170181" y="-20672"/>
                  <a:pt x="2323364" y="0"/>
                </a:cubicBezTo>
                <a:cubicBezTo>
                  <a:pt x="2476547" y="20672"/>
                  <a:pt x="2919163" y="6097"/>
                  <a:pt x="3182691" y="0"/>
                </a:cubicBezTo>
                <a:cubicBezTo>
                  <a:pt x="3183268" y="4624"/>
                  <a:pt x="3183510" y="11191"/>
                  <a:pt x="3182691" y="18288"/>
                </a:cubicBezTo>
                <a:cubicBezTo>
                  <a:pt x="3026064" y="-10849"/>
                  <a:pt x="2775005" y="23067"/>
                  <a:pt x="2546153" y="18288"/>
                </a:cubicBezTo>
                <a:cubicBezTo>
                  <a:pt x="2317301" y="13509"/>
                  <a:pt x="2164351" y="-9884"/>
                  <a:pt x="1845961" y="18288"/>
                </a:cubicBezTo>
                <a:cubicBezTo>
                  <a:pt x="1527571" y="46460"/>
                  <a:pt x="1455006" y="5824"/>
                  <a:pt x="1304903" y="18288"/>
                </a:cubicBezTo>
                <a:cubicBezTo>
                  <a:pt x="1154800" y="30752"/>
                  <a:pt x="942107" y="-12056"/>
                  <a:pt x="604711" y="18288"/>
                </a:cubicBezTo>
                <a:cubicBezTo>
                  <a:pt x="267315" y="48632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706624"/>
            <a:ext cx="5170932" cy="3483864"/>
          </a:xfrm>
        </p:spPr>
        <p:txBody>
          <a:bodyPr>
            <a:normAutofit/>
          </a:bodyPr>
          <a:lstStyle/>
          <a:p>
            <a:r>
              <a:rPr lang="en-US" sz="1900"/>
              <a:t>Hundreds to tens of thousands of sensors</a:t>
            </a:r>
          </a:p>
          <a:p>
            <a:pPr lvl="1"/>
            <a:r>
              <a:rPr lang="en-US" sz="1900"/>
              <a:t>Battery powered</a:t>
            </a:r>
          </a:p>
          <a:p>
            <a:pPr lvl="1"/>
            <a:r>
              <a:rPr lang="en-US" sz="1900"/>
              <a:t>Massive data volumes</a:t>
            </a:r>
          </a:p>
          <a:p>
            <a:pPr lvl="1"/>
            <a:r>
              <a:rPr lang="en-US" sz="1900"/>
              <a:t>Automation required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1B3DB4C8-235E-9184-5E15-841B9D2AE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97880" y="398997"/>
            <a:ext cx="3010662" cy="3290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D5689C68-A274-A74B-5433-0277CE15F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97880" y="4212052"/>
            <a:ext cx="2996946" cy="1910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7" name="Rectangle 7176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57200"/>
            <a:ext cx="3257550" cy="19293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/>
              <a:t>Distributed Acoustic Sensing (DAS)</a:t>
            </a:r>
          </a:p>
        </p:txBody>
      </p:sp>
      <p:sp>
        <p:nvSpPr>
          <p:cNvPr id="7179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59251" y="1415034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5947" y="457200"/>
            <a:ext cx="4505706" cy="1929384"/>
          </a:xfrm>
        </p:spPr>
        <p:txBody>
          <a:bodyPr anchor="ctr">
            <a:normAutofit/>
          </a:bodyPr>
          <a:lstStyle/>
          <a:p>
            <a:r>
              <a:rPr lang="en-US" sz="1900"/>
              <a:t>Fiber-optic cables as sensors</a:t>
            </a:r>
          </a:p>
          <a:p>
            <a:pPr lvl="1"/>
            <a:r>
              <a:rPr lang="en-US" sz="1900"/>
              <a:t>Meter-scale spacing</a:t>
            </a:r>
          </a:p>
          <a:p>
            <a:pPr lvl="1"/>
            <a:r>
              <a:rPr lang="en-US" sz="1900"/>
              <a:t>Extremely high data rates</a:t>
            </a:r>
          </a:p>
          <a:p>
            <a:pPr lvl="1"/>
            <a:r>
              <a:rPr lang="en-US" sz="1900"/>
              <a:t>GPU-scale processing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2715216-2710-2C1A-51B9-AC8DCBBDD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9758" y="3040195"/>
            <a:ext cx="4101084" cy="2737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FCD58430-F2FC-2662-0CC9-AB55D23DE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90872" y="3470809"/>
            <a:ext cx="4101084" cy="187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/>
              <a:t>Citizen &amp; Educational Seismology</a:t>
            </a:r>
          </a:p>
        </p:txBody>
      </p:sp>
      <p:sp>
        <p:nvSpPr>
          <p:cNvPr id="820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r>
              <a:rPr lang="en-US" sz="1900"/>
              <a:t>Low-cost digital instruments</a:t>
            </a:r>
          </a:p>
          <a:p>
            <a:pPr lvl="1"/>
            <a:r>
              <a:rPr lang="en-US" sz="1900"/>
              <a:t>Cloud-connected by default</a:t>
            </a:r>
          </a:p>
          <a:p>
            <a:pPr lvl="1"/>
            <a:r>
              <a:rPr lang="en-US" sz="1900"/>
              <a:t>Dense informal networks</a:t>
            </a:r>
          </a:p>
          <a:p>
            <a:pPr lvl="1"/>
            <a:r>
              <a:rPr lang="en-US" sz="1900"/>
              <a:t>Public engagement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4D2F9EC2-3B8D-A579-FDD7-9D70AF28D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05" r="27254" b="-1"/>
          <a:stretch>
            <a:fillRect/>
          </a:stretch>
        </p:blipFill>
        <p:spPr bwMode="auto">
          <a:xfrm>
            <a:off x="5756743" y="2093976"/>
            <a:ext cx="2955798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Instrumentation Drives 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Analog drums → human interpretation</a:t>
            </a:r>
          </a:p>
          <a:p>
            <a:pPr lvl="1"/>
            <a:r>
              <a:t>Broadband sensors → digitization</a:t>
            </a:r>
          </a:p>
          <a:p>
            <a:pPr lvl="1"/>
            <a:r>
              <a:t>Networked digitizers → real-time processing</a:t>
            </a:r>
          </a:p>
          <a:p>
            <a:pPr lvl="1"/>
            <a:r>
              <a:t>Nodal &amp; DAS → automation and GPUs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 for the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Digitizers sit between physics and computation</a:t>
            </a:r>
          </a:p>
          <a:p>
            <a:pPr lvl="1"/>
            <a:r>
              <a:t>ADC settings determine what is measurable</a:t>
            </a:r>
          </a:p>
          <a:p>
            <a:pPr lvl="1"/>
            <a:r>
              <a:t>Sampling and quantization are scientific choices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Looking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Next: ADCs, sampling, quantization</a:t>
            </a:r>
          </a:p>
          <a:p>
            <a:pPr lvl="1"/>
            <a:r>
              <a:t>Installing and servicing a station</a:t>
            </a:r>
          </a:p>
          <a:p>
            <a:pPr lvl="1"/>
            <a:r>
              <a:t>Key question: What problem did this instrument solve—and what new one did it create?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1086</Words>
  <Application>Microsoft Macintosh PowerPoint</Application>
  <PresentationFormat>On-screen Show (4:3)</PresentationFormat>
  <Paragraphs>144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Seismic Instrumentation as a Computational System</vt:lpstr>
      <vt:lpstr>Why Instrumentation = Computation</vt:lpstr>
      <vt:lpstr>Analog Seismology (Pre-Digital Era)</vt:lpstr>
      <vt:lpstr>Constraints of Analog Systems</vt:lpstr>
      <vt:lpstr>WWSSN: Global Standardization (1960s)</vt:lpstr>
      <vt:lpstr>Broadband Seismometers (Late 1980s)</vt:lpstr>
      <vt:lpstr>Digitization Becomes Mandatory</vt:lpstr>
      <vt:lpstr>Digitizers Become Computers (2000s)</vt:lpstr>
      <vt:lpstr>What Digitizers Force Us to Care About</vt:lpstr>
      <vt:lpstr>Large-N Instrumentation: Nodal Arrays</vt:lpstr>
      <vt:lpstr>Distributed Acoustic Sensing (DAS)</vt:lpstr>
      <vt:lpstr>Citizen &amp; Educational Seismology</vt:lpstr>
      <vt:lpstr>Instrumentation Drives Computation</vt:lpstr>
      <vt:lpstr>Why This Matters for the Lab</vt:lpstr>
      <vt:lpstr>Looking Ahead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Glenn Thompson</cp:lastModifiedBy>
  <cp:revision>2</cp:revision>
  <dcterms:created xsi:type="dcterms:W3CDTF">2013-01-27T09:14:16Z</dcterms:created>
  <dcterms:modified xsi:type="dcterms:W3CDTF">2026-01-15T20:34:52Z</dcterms:modified>
  <cp:category/>
</cp:coreProperties>
</file>