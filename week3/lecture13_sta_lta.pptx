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0" r:id="rId2"/>
    <p:sldId id="271" r:id="rId3"/>
    <p:sldId id="272" r:id="rId4"/>
    <p:sldId id="261" r:id="rId5"/>
    <p:sldId id="277" r:id="rId6"/>
    <p:sldId id="273" r:id="rId7"/>
    <p:sldId id="275" r:id="rId8"/>
    <p:sldId id="276" r:id="rId9"/>
    <p:sldId id="263" r:id="rId10"/>
    <p:sldId id="262" r:id="rId11"/>
    <p:sldId id="264" r:id="rId12"/>
    <p:sldId id="265" r:id="rId13"/>
    <p:sldId id="257" r:id="rId14"/>
    <p:sldId id="258" r:id="rId15"/>
    <p:sldId id="259" r:id="rId16"/>
    <p:sldId id="266" r:id="rId17"/>
    <p:sldId id="280" r:id="rId18"/>
    <p:sldId id="267" r:id="rId19"/>
    <p:sldId id="278" r:id="rId20"/>
    <p:sldId id="279" r:id="rId21"/>
    <p:sldId id="268" r:id="rId22"/>
    <p:sldId id="281" r:id="rId23"/>
    <p:sldId id="282" r:id="rId24"/>
    <p:sldId id="283" r:id="rId25"/>
    <p:sldId id="284" r:id="rId26"/>
    <p:sldId id="285" r:id="rId27"/>
    <p:sldId id="269" r:id="rId28"/>
    <p:sldId id="27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3141"/>
  </p:normalViewPr>
  <p:slideViewPr>
    <p:cSldViewPr snapToGrid="0" snapToObjects="1">
      <p:cViewPr>
        <p:scale>
          <a:sx n="92" d="100"/>
          <a:sy n="92" d="100"/>
        </p:scale>
        <p:origin x="106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93B13D2-F7AC-0440-AC36-55F1209D6816}" type="datetimeFigureOut">
              <a:rPr lang="en-US" smtClean="0"/>
              <a:t>4/21/16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B2269E-9562-534E-8D46-BA894D9EF0FC}" type="slidenum">
              <a:rPr lang="en-US" smtClean="0"/>
              <a:t>‹#›</a:t>
            </a:fld>
            <a:endParaRPr lang="en-US"/>
          </a:p>
        </p:txBody>
      </p:sp>
    </p:spTree>
    <p:extLst>
      <p:ext uri="{BB962C8B-B14F-4D97-AF65-F5344CB8AC3E}">
        <p14:creationId xmlns:p14="http://schemas.microsoft.com/office/powerpoint/2010/main" val="1734687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3B13D2-F7AC-0440-AC36-55F1209D6816}" type="datetimeFigureOut">
              <a:rPr lang="en-US" smtClean="0"/>
              <a:t>4/21/16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B2269E-9562-534E-8D46-BA894D9EF0FC}" type="slidenum">
              <a:rPr lang="en-US" smtClean="0"/>
              <a:t>‹#›</a:t>
            </a:fld>
            <a:endParaRPr lang="en-US"/>
          </a:p>
        </p:txBody>
      </p:sp>
    </p:spTree>
    <p:extLst>
      <p:ext uri="{BB962C8B-B14F-4D97-AF65-F5344CB8AC3E}">
        <p14:creationId xmlns:p14="http://schemas.microsoft.com/office/powerpoint/2010/main" val="1116824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93B13D2-F7AC-0440-AC36-55F1209D6816}" type="datetimeFigureOut">
              <a:rPr lang="en-US" smtClean="0"/>
              <a:t>4/21/16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B2269E-9562-534E-8D46-BA894D9EF0FC}" type="slidenum">
              <a:rPr lang="en-US" smtClean="0"/>
              <a:t>‹#›</a:t>
            </a:fld>
            <a:endParaRPr lang="en-US"/>
          </a:p>
        </p:txBody>
      </p:sp>
    </p:spTree>
    <p:extLst>
      <p:ext uri="{BB962C8B-B14F-4D97-AF65-F5344CB8AC3E}">
        <p14:creationId xmlns:p14="http://schemas.microsoft.com/office/powerpoint/2010/main" val="648185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93B13D2-F7AC-0440-AC36-55F1209D6816}" type="datetimeFigureOut">
              <a:rPr lang="en-US" smtClean="0"/>
              <a:t>4/21/16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B2269E-9562-534E-8D46-BA894D9EF0FC}" type="slidenum">
              <a:rPr lang="en-US" smtClean="0"/>
              <a:t>‹#›</a:t>
            </a:fld>
            <a:endParaRPr lang="en-US"/>
          </a:p>
        </p:txBody>
      </p:sp>
    </p:spTree>
    <p:extLst>
      <p:ext uri="{BB962C8B-B14F-4D97-AF65-F5344CB8AC3E}">
        <p14:creationId xmlns:p14="http://schemas.microsoft.com/office/powerpoint/2010/main" val="2020052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93B13D2-F7AC-0440-AC36-55F1209D6816}" type="datetimeFigureOut">
              <a:rPr lang="en-US" smtClean="0"/>
              <a:t>4/21/16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B2269E-9562-534E-8D46-BA894D9EF0FC}" type="slidenum">
              <a:rPr lang="en-US" smtClean="0"/>
              <a:t>‹#›</a:t>
            </a:fld>
            <a:endParaRPr lang="en-US"/>
          </a:p>
        </p:txBody>
      </p:sp>
    </p:spTree>
    <p:extLst>
      <p:ext uri="{BB962C8B-B14F-4D97-AF65-F5344CB8AC3E}">
        <p14:creationId xmlns:p14="http://schemas.microsoft.com/office/powerpoint/2010/main" val="1457375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93B13D2-F7AC-0440-AC36-55F1209D6816}" type="datetimeFigureOut">
              <a:rPr lang="en-US" smtClean="0"/>
              <a:t>4/21/16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B2269E-9562-534E-8D46-BA894D9EF0FC}" type="slidenum">
              <a:rPr lang="en-US" smtClean="0"/>
              <a:t>‹#›</a:t>
            </a:fld>
            <a:endParaRPr lang="en-US"/>
          </a:p>
        </p:txBody>
      </p:sp>
    </p:spTree>
    <p:extLst>
      <p:ext uri="{BB962C8B-B14F-4D97-AF65-F5344CB8AC3E}">
        <p14:creationId xmlns:p14="http://schemas.microsoft.com/office/powerpoint/2010/main" val="2056278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3B13D2-F7AC-0440-AC36-55F1209D6816}" type="datetimeFigureOut">
              <a:rPr lang="en-US" smtClean="0"/>
              <a:t>4/21/16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B2269E-9562-534E-8D46-BA894D9EF0FC}" type="slidenum">
              <a:rPr lang="en-US" smtClean="0"/>
              <a:t>‹#›</a:t>
            </a:fld>
            <a:endParaRPr lang="en-US"/>
          </a:p>
        </p:txBody>
      </p:sp>
    </p:spTree>
    <p:extLst>
      <p:ext uri="{BB962C8B-B14F-4D97-AF65-F5344CB8AC3E}">
        <p14:creationId xmlns:p14="http://schemas.microsoft.com/office/powerpoint/2010/main" val="411981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93B13D2-F7AC-0440-AC36-55F1209D6816}" type="datetimeFigureOut">
              <a:rPr lang="en-US" smtClean="0"/>
              <a:t>4/21/16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B2269E-9562-534E-8D46-BA894D9EF0FC}" type="slidenum">
              <a:rPr lang="en-US" smtClean="0"/>
              <a:t>‹#›</a:t>
            </a:fld>
            <a:endParaRPr lang="en-US"/>
          </a:p>
        </p:txBody>
      </p:sp>
    </p:spTree>
    <p:extLst>
      <p:ext uri="{BB962C8B-B14F-4D97-AF65-F5344CB8AC3E}">
        <p14:creationId xmlns:p14="http://schemas.microsoft.com/office/powerpoint/2010/main" val="681557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93B13D2-F7AC-0440-AC36-55F1209D6816}" type="datetimeFigureOut">
              <a:rPr lang="en-US" smtClean="0"/>
              <a:t>4/21/16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B2269E-9562-534E-8D46-BA894D9EF0FC}" type="slidenum">
              <a:rPr lang="en-US" smtClean="0"/>
              <a:t>‹#›</a:t>
            </a:fld>
            <a:endParaRPr lang="en-US"/>
          </a:p>
        </p:txBody>
      </p:sp>
    </p:spTree>
    <p:extLst>
      <p:ext uri="{BB962C8B-B14F-4D97-AF65-F5344CB8AC3E}">
        <p14:creationId xmlns:p14="http://schemas.microsoft.com/office/powerpoint/2010/main" val="254221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3B13D2-F7AC-0440-AC36-55F1209D6816}" type="datetimeFigureOut">
              <a:rPr lang="en-US" smtClean="0"/>
              <a:t>4/21/16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B2269E-9562-534E-8D46-BA894D9EF0FC}" type="slidenum">
              <a:rPr lang="en-US" smtClean="0"/>
              <a:t>‹#›</a:t>
            </a:fld>
            <a:endParaRPr lang="en-US"/>
          </a:p>
        </p:txBody>
      </p:sp>
    </p:spTree>
    <p:extLst>
      <p:ext uri="{BB962C8B-B14F-4D97-AF65-F5344CB8AC3E}">
        <p14:creationId xmlns:p14="http://schemas.microsoft.com/office/powerpoint/2010/main" val="1360112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3B13D2-F7AC-0440-AC36-55F1209D6816}" type="datetimeFigureOut">
              <a:rPr lang="en-US" smtClean="0"/>
              <a:t>4/21/16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B2269E-9562-534E-8D46-BA894D9EF0FC}" type="slidenum">
              <a:rPr lang="en-US" smtClean="0"/>
              <a:t>‹#›</a:t>
            </a:fld>
            <a:endParaRPr lang="en-US"/>
          </a:p>
        </p:txBody>
      </p:sp>
    </p:spTree>
    <p:extLst>
      <p:ext uri="{BB962C8B-B14F-4D97-AF65-F5344CB8AC3E}">
        <p14:creationId xmlns:p14="http://schemas.microsoft.com/office/powerpoint/2010/main" val="160027749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3B13D2-F7AC-0440-AC36-55F1209D6816}" type="datetimeFigureOut">
              <a:rPr lang="en-US" smtClean="0"/>
              <a:t>4/21/16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B2269E-9562-534E-8D46-BA894D9EF0FC}" type="slidenum">
              <a:rPr lang="en-US" smtClean="0"/>
              <a:t>‹#›</a:t>
            </a:fld>
            <a:endParaRPr lang="en-US"/>
          </a:p>
        </p:txBody>
      </p:sp>
    </p:spTree>
    <p:extLst>
      <p:ext uri="{BB962C8B-B14F-4D97-AF65-F5344CB8AC3E}">
        <p14:creationId xmlns:p14="http://schemas.microsoft.com/office/powerpoint/2010/main" val="1126679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1" Type="http://schemas.openxmlformats.org/officeDocument/2006/relationships/slideLayout" Target="../slideLayouts/slideLayout10.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hyperlink" Target="https://www.seiscomp3.org/wiki/doc/applications/scautopick" TargetMode="External"/><Relationship Id="rId4" Type="http://schemas.openxmlformats.org/officeDocument/2006/relationships/hyperlink" Target="https://docs.obspy.org/tutorial/code_snippets/trigger_tutorial.html" TargetMode="External"/><Relationship Id="rId5" Type="http://schemas.openxmlformats.org/officeDocument/2006/relationships/hyperlink" Target="http://search.r-project.org/library/IRISSeismic/html/STALTA.html" TargetMode="External"/><Relationship Id="rId1" Type="http://schemas.openxmlformats.org/officeDocument/2006/relationships/slideLayout" Target="../slideLayouts/slideLayout2.xml"/><Relationship Id="rId2" Type="http://schemas.openxmlformats.org/officeDocument/2006/relationships/hyperlink" Target="http://love.isti.com/trac/ew/wiki/carlstatri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1" Type="http://schemas.openxmlformats.org/officeDocument/2006/relationships/slideLayout" Target="../slideLayouts/slideLayout2.xml"/><Relationship Id="rId2" Type="http://schemas.openxmlformats.org/officeDocument/2006/relationships/hyperlink" Target="https://docs.obspy.org/tutorial/code_snippets/trigger_tutorial.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hyperlink" Target="https://usflearn.instructure.com/courses/1164049/modules/items/9471939"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applications of DSP in Seismic Monitoring</a:t>
            </a:r>
            <a:endParaRPr lang="en-US" dirty="0"/>
          </a:p>
        </p:txBody>
      </p:sp>
      <p:sp>
        <p:nvSpPr>
          <p:cNvPr id="5" name="TextBox 4"/>
          <p:cNvSpPr txBox="1"/>
          <p:nvPr/>
        </p:nvSpPr>
        <p:spPr>
          <a:xfrm>
            <a:off x="306572" y="1690688"/>
            <a:ext cx="11885428" cy="3693319"/>
          </a:xfrm>
          <a:prstGeom prst="rect">
            <a:avLst/>
          </a:prstGeom>
          <a:noFill/>
        </p:spPr>
        <p:txBody>
          <a:bodyPr wrap="square" rtlCol="0">
            <a:spAutoFit/>
          </a:bodyPr>
          <a:lstStyle/>
          <a:p>
            <a:r>
              <a:rPr lang="en-US" dirty="0" smtClean="0"/>
              <a:t>Digitizer – anti-alias filter, ADC</a:t>
            </a:r>
          </a:p>
          <a:p>
            <a:r>
              <a:rPr lang="en-US" dirty="0" smtClean="0"/>
              <a:t>Radio (voltage controlled oscillator, amplitude or frequency modulation)</a:t>
            </a:r>
          </a:p>
          <a:p>
            <a:r>
              <a:rPr lang="en-US" dirty="0" smtClean="0"/>
              <a:t>Multiplexing</a:t>
            </a:r>
          </a:p>
          <a:p>
            <a:r>
              <a:rPr lang="en-US" dirty="0" err="1" smtClean="0"/>
              <a:t>Demultiplexing</a:t>
            </a:r>
            <a:r>
              <a:rPr lang="en-US" dirty="0" smtClean="0"/>
              <a:t> (Discriminating)</a:t>
            </a:r>
          </a:p>
          <a:p>
            <a:r>
              <a:rPr lang="en-US" dirty="0" smtClean="0"/>
              <a:t>Demodulator</a:t>
            </a:r>
          </a:p>
          <a:p>
            <a:r>
              <a:rPr lang="en-US" dirty="0" smtClean="0"/>
              <a:t>Amplitude-based alarms, e.g. event &amp; tremor alarms</a:t>
            </a:r>
          </a:p>
          <a:p>
            <a:r>
              <a:rPr lang="en-US" dirty="0" smtClean="0"/>
              <a:t>RSAM</a:t>
            </a:r>
          </a:p>
          <a:p>
            <a:r>
              <a:rPr lang="en-US" dirty="0" smtClean="0"/>
              <a:t>Event detection</a:t>
            </a:r>
          </a:p>
          <a:p>
            <a:r>
              <a:rPr lang="en-US" dirty="0" smtClean="0"/>
              <a:t>Event location (delay and stack on grid)</a:t>
            </a:r>
          </a:p>
          <a:p>
            <a:r>
              <a:rPr lang="en-US" dirty="0" smtClean="0"/>
              <a:t>Magnitude determination</a:t>
            </a:r>
          </a:p>
          <a:p>
            <a:r>
              <a:rPr lang="en-US" dirty="0" smtClean="0"/>
              <a:t>Swarm alarms</a:t>
            </a:r>
          </a:p>
          <a:p>
            <a:r>
              <a:rPr lang="en-US" dirty="0" smtClean="0"/>
              <a:t>Amplitude-based location</a:t>
            </a:r>
          </a:p>
          <a:p>
            <a:r>
              <a:rPr lang="en-US" dirty="0" smtClean="0"/>
              <a:t>Analyst review </a:t>
            </a:r>
          </a:p>
        </p:txBody>
      </p:sp>
    </p:spTree>
    <p:extLst>
      <p:ext uri="{BB962C8B-B14F-4D97-AF65-F5344CB8AC3E}">
        <p14:creationId xmlns:p14="http://schemas.microsoft.com/office/powerpoint/2010/main" val="2022623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89886" y="731182"/>
            <a:ext cx="10515600" cy="5909310"/>
          </a:xfrm>
          <a:prstGeom prst="rect">
            <a:avLst/>
          </a:prstGeom>
          <a:noFill/>
        </p:spPr>
        <p:txBody>
          <a:bodyPr wrap="square" rtlCol="0">
            <a:spAutoFit/>
          </a:bodyPr>
          <a:lstStyle/>
          <a:p>
            <a:r>
              <a:rPr lang="en-US" dirty="0" smtClean="0"/>
              <a:t>You are a Seismologist </a:t>
            </a:r>
            <a:r>
              <a:rPr lang="en-US" dirty="0"/>
              <a:t>at Caltech back in early 1980s, running an earthquake monitoring network. </a:t>
            </a:r>
            <a:r>
              <a:rPr lang="en-US" dirty="0" smtClean="0"/>
              <a:t>Until now you’ve been reliant of helical drum recorders.</a:t>
            </a:r>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a:p>
          <a:p>
            <a:endParaRPr lang="en-US" dirty="0"/>
          </a:p>
          <a:p>
            <a:endParaRPr lang="en-US" dirty="0" smtClean="0"/>
          </a:p>
          <a:p>
            <a:endParaRPr lang="en-US" dirty="0"/>
          </a:p>
          <a:p>
            <a:endParaRPr lang="en-US" dirty="0" smtClean="0"/>
          </a:p>
          <a:p>
            <a:r>
              <a:rPr lang="en-US" dirty="0" smtClean="0"/>
              <a:t>Computers </a:t>
            </a:r>
            <a:r>
              <a:rPr lang="en-US" dirty="0"/>
              <a:t>are just beginning to get useful. For the first time, you begin to digitize seismic data, rather than just rely on paper records. But the data volumes are so huge, about 100 MB per day and all you have is a 1 MB hard drive. So you have to cut the data down and only save the most important parts for detailed analysis</a:t>
            </a:r>
            <a:r>
              <a:rPr lang="en-US" dirty="0" smtClean="0"/>
              <a:t>.</a:t>
            </a:r>
          </a:p>
          <a:p>
            <a:endParaRPr lang="en-US" dirty="0"/>
          </a:p>
          <a:p>
            <a:r>
              <a:rPr lang="en-US" dirty="0">
                <a:solidFill>
                  <a:srgbClr val="333333"/>
                </a:solidFill>
                <a:latin typeface="Helvetica Neue" charset="0"/>
              </a:rPr>
              <a:t>So you decide just to try to detect the earthquake events, and throw away everything else.</a:t>
            </a:r>
          </a:p>
          <a:p>
            <a:endParaRPr lang="en-US" dirty="0">
              <a:solidFill>
                <a:srgbClr val="333333"/>
              </a:solidFill>
              <a:latin typeface="Helvetica Neue" charset="0"/>
            </a:endParaRPr>
          </a:p>
          <a:p>
            <a:endParaRPr lang="en-US" dirty="0"/>
          </a:p>
        </p:txBody>
      </p:sp>
      <p:pic>
        <p:nvPicPr>
          <p:cNvPr id="6" name="Picture 5"/>
          <p:cNvPicPr>
            <a:picLocks noChangeAspect="1"/>
          </p:cNvPicPr>
          <p:nvPr/>
        </p:nvPicPr>
        <p:blipFill>
          <a:blip r:embed="rId2"/>
          <a:stretch>
            <a:fillRect/>
          </a:stretch>
        </p:blipFill>
        <p:spPr>
          <a:xfrm>
            <a:off x="5857062" y="1326117"/>
            <a:ext cx="3327400" cy="2844800"/>
          </a:xfrm>
          <a:prstGeom prst="rect">
            <a:avLst/>
          </a:prstGeom>
        </p:spPr>
      </p:pic>
    </p:spTree>
    <p:extLst>
      <p:ext uri="{BB962C8B-B14F-4D97-AF65-F5344CB8AC3E}">
        <p14:creationId xmlns:p14="http://schemas.microsoft.com/office/powerpoint/2010/main" val="999101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9344" y="819006"/>
            <a:ext cx="10515600" cy="5632311"/>
          </a:xfrm>
          <a:prstGeom prst="rect">
            <a:avLst/>
          </a:prstGeom>
        </p:spPr>
        <p:txBody>
          <a:bodyPr wrap="square">
            <a:spAutoFit/>
          </a:bodyPr>
          <a:lstStyle/>
          <a:p>
            <a:r>
              <a:rPr lang="en-US" b="1" dirty="0" smtClean="0">
                <a:solidFill>
                  <a:srgbClr val="333333"/>
                </a:solidFill>
                <a:latin typeface="Helvetica Neue" charset="0"/>
              </a:rPr>
              <a:t>Simplest method: Amplitude-duration trigger</a:t>
            </a:r>
          </a:p>
          <a:p>
            <a:r>
              <a:rPr lang="en-US" dirty="0" smtClean="0">
                <a:solidFill>
                  <a:srgbClr val="333333"/>
                </a:solidFill>
                <a:latin typeface="Helvetica Neue" charset="0"/>
              </a:rPr>
              <a:t>The signal has to exceed an amplitude threshold, </a:t>
            </a:r>
            <a:r>
              <a:rPr lang="en-US" i="1" dirty="0" err="1" smtClean="0">
                <a:solidFill>
                  <a:srgbClr val="333333"/>
                </a:solidFill>
                <a:latin typeface="Helvetica Neue" charset="0"/>
              </a:rPr>
              <a:t>thresh_a</a:t>
            </a:r>
            <a:r>
              <a:rPr lang="en-US" dirty="0" smtClean="0">
                <a:solidFill>
                  <a:srgbClr val="333333"/>
                </a:solidFill>
                <a:latin typeface="Helvetica Neue" charset="0"/>
              </a:rPr>
              <a:t>, for at least time, </a:t>
            </a:r>
            <a:r>
              <a:rPr lang="en-US" i="1" dirty="0" err="1" smtClean="0">
                <a:solidFill>
                  <a:srgbClr val="333333"/>
                </a:solidFill>
                <a:latin typeface="Helvetica Neue" charset="0"/>
              </a:rPr>
              <a:t>thresh_t</a:t>
            </a:r>
            <a:r>
              <a:rPr lang="en-US" dirty="0">
                <a:solidFill>
                  <a:srgbClr val="333333"/>
                </a:solidFill>
                <a:latin typeface="Helvetica Neue" charset="0"/>
              </a:rPr>
              <a:t> </a:t>
            </a:r>
            <a:r>
              <a:rPr lang="en-US" dirty="0" smtClean="0">
                <a:solidFill>
                  <a:srgbClr val="333333"/>
                </a:solidFill>
                <a:latin typeface="Helvetica Neue" charset="0"/>
              </a:rPr>
              <a:t>(misses spikes)</a:t>
            </a:r>
          </a:p>
          <a:p>
            <a:r>
              <a:rPr lang="en-US" dirty="0" smtClean="0">
                <a:solidFill>
                  <a:srgbClr val="333333"/>
                </a:solidFill>
                <a:latin typeface="Helvetica Neue" charset="0"/>
              </a:rPr>
              <a:t>Pros:</a:t>
            </a:r>
          </a:p>
          <a:p>
            <a:pPr marL="285750" indent="-285750">
              <a:buFont typeface="Arial" charset="0"/>
              <a:buChar char="•"/>
            </a:pPr>
            <a:r>
              <a:rPr lang="en-US" dirty="0" smtClean="0">
                <a:solidFill>
                  <a:srgbClr val="333333"/>
                </a:solidFill>
                <a:latin typeface="Helvetica Neue" charset="0"/>
              </a:rPr>
              <a:t>Great for detecting large earthquakes (strong motion), high amplitude tremor etc.</a:t>
            </a:r>
          </a:p>
          <a:p>
            <a:r>
              <a:rPr lang="en-US" dirty="0" smtClean="0">
                <a:solidFill>
                  <a:srgbClr val="333333"/>
                </a:solidFill>
                <a:latin typeface="Helvetica Neue" charset="0"/>
              </a:rPr>
              <a:t>Cons:</a:t>
            </a:r>
          </a:p>
          <a:p>
            <a:pPr marL="285750" indent="-285750">
              <a:buFont typeface="Arial" charset="0"/>
              <a:buChar char="•"/>
            </a:pPr>
            <a:r>
              <a:rPr lang="en-US" dirty="0" smtClean="0">
                <a:solidFill>
                  <a:srgbClr val="333333"/>
                </a:solidFill>
                <a:latin typeface="Helvetica Neue" charset="0"/>
              </a:rPr>
              <a:t>Will completely miss all signals smaller than </a:t>
            </a:r>
            <a:r>
              <a:rPr lang="en-US" i="1" dirty="0" err="1" smtClean="0">
                <a:solidFill>
                  <a:srgbClr val="333333"/>
                </a:solidFill>
                <a:latin typeface="Helvetica Neue" charset="0"/>
              </a:rPr>
              <a:t>thresh_a</a:t>
            </a:r>
            <a:r>
              <a:rPr lang="en-US" dirty="0" smtClean="0">
                <a:solidFill>
                  <a:srgbClr val="333333"/>
                </a:solidFill>
                <a:latin typeface="Helvetica Neue" charset="0"/>
              </a:rPr>
              <a:t>.</a:t>
            </a:r>
          </a:p>
          <a:p>
            <a:pPr marL="285750" indent="-285750">
              <a:buFont typeface="Arial" charset="0"/>
              <a:buChar char="•"/>
            </a:pPr>
            <a:r>
              <a:rPr lang="en-US" dirty="0" smtClean="0">
                <a:solidFill>
                  <a:srgbClr val="333333"/>
                </a:solidFill>
                <a:latin typeface="Helvetica Neue" charset="0"/>
              </a:rPr>
              <a:t>Poor event </a:t>
            </a:r>
            <a:r>
              <a:rPr lang="en-US" dirty="0" err="1" smtClean="0">
                <a:solidFill>
                  <a:srgbClr val="333333"/>
                </a:solidFill>
                <a:latin typeface="Helvetica Neue" charset="0"/>
              </a:rPr>
              <a:t>discrimation</a:t>
            </a:r>
            <a:r>
              <a:rPr lang="en-US" dirty="0" smtClean="0">
                <a:solidFill>
                  <a:srgbClr val="333333"/>
                </a:solidFill>
                <a:latin typeface="Helvetica Neue" charset="0"/>
              </a:rPr>
              <a:t> (lots of false triggers)</a:t>
            </a:r>
          </a:p>
          <a:p>
            <a:pPr marL="285750" indent="-285750">
              <a:buFont typeface="Arial" charset="0"/>
              <a:buChar char="•"/>
            </a:pPr>
            <a:r>
              <a:rPr lang="en-US" dirty="0" smtClean="0">
                <a:solidFill>
                  <a:srgbClr val="333333"/>
                </a:solidFill>
                <a:latin typeface="Helvetica Neue" charset="0"/>
              </a:rPr>
              <a:t>Cannot adapt to changing signal levels</a:t>
            </a:r>
          </a:p>
          <a:p>
            <a:pPr marL="285750" indent="-285750">
              <a:buFont typeface="Arial" charset="0"/>
              <a:buChar char="•"/>
            </a:pPr>
            <a:endParaRPr lang="en-US" dirty="0">
              <a:solidFill>
                <a:srgbClr val="333333"/>
              </a:solidFill>
              <a:latin typeface="Helvetica Neue" charset="0"/>
            </a:endParaRPr>
          </a:p>
          <a:p>
            <a:r>
              <a:rPr lang="en-US" b="1" dirty="0" smtClean="0">
                <a:solidFill>
                  <a:srgbClr val="333333"/>
                </a:solidFill>
                <a:latin typeface="Helvetica Neue" charset="0"/>
              </a:rPr>
              <a:t>Better method: STA/LTA trigger</a:t>
            </a:r>
            <a:endParaRPr lang="en-US" b="1" dirty="0">
              <a:solidFill>
                <a:srgbClr val="333333"/>
              </a:solidFill>
              <a:latin typeface="Helvetica Neue" charset="0"/>
            </a:endParaRPr>
          </a:p>
          <a:p>
            <a:r>
              <a:rPr lang="en-US" dirty="0">
                <a:solidFill>
                  <a:srgbClr val="333333"/>
                </a:solidFill>
                <a:latin typeface="Helvetica Neue" charset="0"/>
              </a:rPr>
              <a:t>The </a:t>
            </a:r>
            <a:r>
              <a:rPr lang="en-US" dirty="0" smtClean="0">
                <a:solidFill>
                  <a:srgbClr val="333333"/>
                </a:solidFill>
                <a:latin typeface="Helvetica Neue" charset="0"/>
              </a:rPr>
              <a:t>STA/LTA </a:t>
            </a:r>
            <a:r>
              <a:rPr lang="en-US" dirty="0">
                <a:solidFill>
                  <a:srgbClr val="333333"/>
                </a:solidFill>
                <a:latin typeface="Helvetica Neue" charset="0"/>
              </a:rPr>
              <a:t>has to exceed an amplitude threshold, </a:t>
            </a:r>
            <a:r>
              <a:rPr lang="en-US" i="1" dirty="0" err="1">
                <a:solidFill>
                  <a:srgbClr val="333333"/>
                </a:solidFill>
                <a:latin typeface="Helvetica Neue" charset="0"/>
              </a:rPr>
              <a:t>thresh_a</a:t>
            </a:r>
            <a:r>
              <a:rPr lang="en-US" dirty="0">
                <a:solidFill>
                  <a:srgbClr val="333333"/>
                </a:solidFill>
                <a:latin typeface="Helvetica Neue" charset="0"/>
              </a:rPr>
              <a:t>, for at least time, </a:t>
            </a:r>
            <a:r>
              <a:rPr lang="en-US" i="1" dirty="0" err="1">
                <a:solidFill>
                  <a:srgbClr val="333333"/>
                </a:solidFill>
                <a:latin typeface="Helvetica Neue" charset="0"/>
              </a:rPr>
              <a:t>thresh_t</a:t>
            </a:r>
            <a:r>
              <a:rPr lang="en-US" dirty="0">
                <a:solidFill>
                  <a:srgbClr val="333333"/>
                </a:solidFill>
                <a:latin typeface="Helvetica Neue" charset="0"/>
              </a:rPr>
              <a:t> (misses spikes)</a:t>
            </a:r>
          </a:p>
          <a:p>
            <a:r>
              <a:rPr lang="en-US" dirty="0">
                <a:solidFill>
                  <a:srgbClr val="333333"/>
                </a:solidFill>
                <a:latin typeface="Helvetica Neue" charset="0"/>
              </a:rPr>
              <a:t>Pros:</a:t>
            </a:r>
          </a:p>
          <a:p>
            <a:pPr marL="285750" indent="-285750">
              <a:buFont typeface="Arial" charset="0"/>
              <a:buChar char="•"/>
            </a:pPr>
            <a:r>
              <a:rPr lang="en-US" dirty="0" smtClean="0">
                <a:solidFill>
                  <a:srgbClr val="333333"/>
                </a:solidFill>
                <a:latin typeface="Helvetica Neue" charset="0"/>
              </a:rPr>
              <a:t>Will always work where there is a good </a:t>
            </a:r>
            <a:r>
              <a:rPr lang="en-US" dirty="0" err="1" smtClean="0">
                <a:solidFill>
                  <a:srgbClr val="333333"/>
                </a:solidFill>
                <a:latin typeface="Helvetica Neue" charset="0"/>
              </a:rPr>
              <a:t>signal:noise</a:t>
            </a:r>
            <a:r>
              <a:rPr lang="en-US" dirty="0" smtClean="0">
                <a:solidFill>
                  <a:srgbClr val="333333"/>
                </a:solidFill>
                <a:latin typeface="Helvetica Neue" charset="0"/>
              </a:rPr>
              <a:t> ratio (weak motion)</a:t>
            </a:r>
          </a:p>
          <a:p>
            <a:pPr marL="285750" indent="-285750">
              <a:buFont typeface="Arial" charset="0"/>
              <a:buChar char="•"/>
            </a:pPr>
            <a:r>
              <a:rPr lang="en-US" dirty="0" smtClean="0">
                <a:solidFill>
                  <a:srgbClr val="333333"/>
                </a:solidFill>
                <a:latin typeface="Helvetica Neue" charset="0"/>
              </a:rPr>
              <a:t>Doesn’t need retuning as signal levels change</a:t>
            </a:r>
          </a:p>
          <a:p>
            <a:pPr marL="285750" indent="-285750">
              <a:buFont typeface="Arial" charset="0"/>
              <a:buChar char="•"/>
            </a:pPr>
            <a:r>
              <a:rPr lang="en-US" dirty="0" smtClean="0">
                <a:solidFill>
                  <a:srgbClr val="333333"/>
                </a:solidFill>
                <a:latin typeface="Helvetica Neue" charset="0"/>
              </a:rPr>
              <a:t>Few false triggers</a:t>
            </a:r>
          </a:p>
          <a:p>
            <a:r>
              <a:rPr lang="en-US" dirty="0" smtClean="0">
                <a:solidFill>
                  <a:srgbClr val="333333"/>
                </a:solidFill>
                <a:latin typeface="Helvetica Neue" charset="0"/>
              </a:rPr>
              <a:t>Cons</a:t>
            </a:r>
            <a:r>
              <a:rPr lang="en-US" dirty="0">
                <a:solidFill>
                  <a:srgbClr val="333333"/>
                </a:solidFill>
                <a:latin typeface="Helvetica Neue" charset="0"/>
              </a:rPr>
              <a:t>:</a:t>
            </a:r>
          </a:p>
          <a:p>
            <a:pPr marL="285750" indent="-285750">
              <a:buFont typeface="Arial" charset="0"/>
              <a:buChar char="•"/>
            </a:pPr>
            <a:r>
              <a:rPr lang="en-US" dirty="0" smtClean="0">
                <a:solidFill>
                  <a:srgbClr val="333333"/>
                </a:solidFill>
                <a:latin typeface="Helvetica Neue" charset="0"/>
              </a:rPr>
              <a:t>Completely breaks down in presence of high amplitude noise (no events recorded during high amplitude tremor, dome collapse etc.)</a:t>
            </a:r>
          </a:p>
          <a:p>
            <a:pPr marL="285750" indent="-285750">
              <a:buFont typeface="Arial" charset="0"/>
              <a:buChar char="•"/>
            </a:pPr>
            <a:endParaRPr lang="en-US" dirty="0">
              <a:solidFill>
                <a:srgbClr val="333333"/>
              </a:solidFill>
              <a:latin typeface="Helvetica Neue" charset="0"/>
            </a:endParaRPr>
          </a:p>
        </p:txBody>
      </p:sp>
    </p:spTree>
    <p:extLst>
      <p:ext uri="{BB962C8B-B14F-4D97-AF65-F5344CB8AC3E}">
        <p14:creationId xmlns:p14="http://schemas.microsoft.com/office/powerpoint/2010/main" val="1828615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detection &amp; location – 2 steps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Detection</a:t>
            </a:r>
            <a:endParaRPr lang="en-US" dirty="0"/>
          </a:p>
          <a:p>
            <a:r>
              <a:rPr lang="en-US" dirty="0"/>
              <a:t>Traditionally, an earthquake is detected at one station at a time, using an energy detector such as a short-term average (STA)/long-term average (LTA). STA/LTA computes the ratio of the STA energy in a short time window to the LTA energy in a longer time window, as these windows slide through the continuous data. A detection is declared when the STA/LTA ratio exceeds certain thresholds. </a:t>
            </a:r>
          </a:p>
          <a:p>
            <a:pPr marL="0" indent="0">
              <a:buNone/>
            </a:pPr>
            <a:r>
              <a:rPr lang="en-US" b="1" dirty="0"/>
              <a:t>Association (of detections from different stations into events)</a:t>
            </a:r>
            <a:endParaRPr lang="en-US" dirty="0"/>
          </a:p>
          <a:p>
            <a:r>
              <a:rPr lang="en-US" dirty="0"/>
              <a:t>An association algorithm then determines whether detections at multiple stations across the network are consistent with a seismic source. If a seismic event is detected at a minimum of four stations, it is included in an earthquake catalog, which is a database of the location, origin time, and magnitude of known earthquakes. </a:t>
            </a:r>
          </a:p>
          <a:p>
            <a:endParaRPr lang="en-US" dirty="0"/>
          </a:p>
        </p:txBody>
      </p:sp>
    </p:spTree>
    <p:extLst>
      <p:ext uri="{BB962C8B-B14F-4D97-AF65-F5344CB8AC3E}">
        <p14:creationId xmlns:p14="http://schemas.microsoft.com/office/powerpoint/2010/main" val="778629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Detecting events</a:t>
            </a:r>
            <a:endParaRPr lang="en-US" dirty="0"/>
          </a:p>
        </p:txBody>
      </p:sp>
      <p:pic>
        <p:nvPicPr>
          <p:cNvPr id="4" name="Picture 3"/>
          <p:cNvPicPr>
            <a:picLocks noChangeAspect="1"/>
          </p:cNvPicPr>
          <p:nvPr/>
        </p:nvPicPr>
        <p:blipFill>
          <a:blip r:embed="rId2"/>
          <a:stretch>
            <a:fillRect/>
          </a:stretch>
        </p:blipFill>
        <p:spPr>
          <a:xfrm>
            <a:off x="2836718" y="1690688"/>
            <a:ext cx="6324600" cy="4940300"/>
          </a:xfrm>
          <a:prstGeom prst="rect">
            <a:avLst/>
          </a:prstGeom>
        </p:spPr>
      </p:pic>
    </p:spTree>
    <p:extLst>
      <p:ext uri="{BB962C8B-B14F-4D97-AF65-F5344CB8AC3E}">
        <p14:creationId xmlns:p14="http://schemas.microsoft.com/office/powerpoint/2010/main" val="1432647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Detecting P &amp; S phase arrivals</a:t>
            </a:r>
            <a:endParaRPr lang="en-US" dirty="0"/>
          </a:p>
        </p:txBody>
      </p:sp>
      <p:pic>
        <p:nvPicPr>
          <p:cNvPr id="5" name="Picture 4"/>
          <p:cNvPicPr>
            <a:picLocks noChangeAspect="1"/>
          </p:cNvPicPr>
          <p:nvPr/>
        </p:nvPicPr>
        <p:blipFill>
          <a:blip r:embed="rId2"/>
          <a:stretch>
            <a:fillRect/>
          </a:stretch>
        </p:blipFill>
        <p:spPr>
          <a:xfrm>
            <a:off x="4110377" y="1690688"/>
            <a:ext cx="5902470" cy="5167312"/>
          </a:xfrm>
          <a:prstGeom prst="rect">
            <a:avLst/>
          </a:prstGeom>
        </p:spPr>
      </p:pic>
    </p:spTree>
    <p:extLst>
      <p:ext uri="{BB962C8B-B14F-4D97-AF65-F5344CB8AC3E}">
        <p14:creationId xmlns:p14="http://schemas.microsoft.com/office/powerpoint/2010/main" val="681703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280459"/>
            <a:ext cx="6441016" cy="3693319"/>
          </a:xfrm>
          <a:prstGeom prst="rect">
            <a:avLst/>
          </a:prstGeom>
          <a:noFill/>
        </p:spPr>
        <p:txBody>
          <a:bodyPr wrap="square" rtlCol="0">
            <a:spAutoFit/>
          </a:bodyPr>
          <a:lstStyle/>
          <a:p>
            <a:r>
              <a:rPr lang="en-US" b="1" u="sng" dirty="0" smtClean="0"/>
              <a:t>STA window</a:t>
            </a:r>
          </a:p>
          <a:p>
            <a:pPr marL="285750" indent="-285750">
              <a:buFont typeface="Arial" charset="0"/>
              <a:buChar char="•"/>
            </a:pPr>
            <a:r>
              <a:rPr lang="en-US" dirty="0" smtClean="0"/>
              <a:t>longer than a few periods of the signal you want to detect (too short = false triggers, e.g. spikes)</a:t>
            </a:r>
          </a:p>
          <a:p>
            <a:pPr marL="285750" indent="-285750">
              <a:buFont typeface="Arial" charset="0"/>
              <a:buChar char="•"/>
            </a:pPr>
            <a:r>
              <a:rPr lang="en-US" dirty="0" smtClean="0"/>
              <a:t>Shorter than length of signal (VTs, </a:t>
            </a:r>
            <a:r>
              <a:rPr lang="en-US" dirty="0" err="1" smtClean="0"/>
              <a:t>rockfalls</a:t>
            </a:r>
            <a:r>
              <a:rPr lang="en-US" dirty="0" smtClean="0"/>
              <a:t>?)</a:t>
            </a:r>
          </a:p>
          <a:p>
            <a:pPr marL="285750" indent="-285750">
              <a:buFont typeface="Arial" charset="0"/>
              <a:buChar char="•"/>
            </a:pPr>
            <a:endParaRPr lang="en-US" dirty="0"/>
          </a:p>
          <a:p>
            <a:r>
              <a:rPr lang="en-US" b="1" u="sng" dirty="0" smtClean="0"/>
              <a:t>LTA window</a:t>
            </a:r>
          </a:p>
          <a:p>
            <a:pPr marL="285750" indent="-285750">
              <a:buFont typeface="Arial" charset="0"/>
              <a:buChar char="•"/>
            </a:pPr>
            <a:r>
              <a:rPr lang="en-US" dirty="0" smtClean="0"/>
              <a:t>Longer than a few periods of the noise</a:t>
            </a:r>
          </a:p>
          <a:p>
            <a:pPr marL="285750" indent="-285750">
              <a:buFont typeface="Arial" charset="0"/>
              <a:buChar char="•"/>
            </a:pPr>
            <a:r>
              <a:rPr lang="en-US" dirty="0" smtClean="0"/>
              <a:t>Longer than an event</a:t>
            </a:r>
          </a:p>
          <a:p>
            <a:pPr marL="285750" indent="-285750">
              <a:buFont typeface="Arial" charset="0"/>
              <a:buChar char="•"/>
            </a:pPr>
            <a:r>
              <a:rPr lang="en-US" dirty="0" smtClean="0"/>
              <a:t>Shorter than time between events (not good for swarms)</a:t>
            </a:r>
          </a:p>
          <a:p>
            <a:pPr marL="285750" indent="-285750">
              <a:buFont typeface="Arial" charset="0"/>
              <a:buChar char="•"/>
            </a:pPr>
            <a:r>
              <a:rPr lang="en-US" dirty="0" smtClean="0"/>
              <a:t>Much shorter than the overall seismogram</a:t>
            </a:r>
          </a:p>
          <a:p>
            <a:pPr marL="285750" indent="-285750">
              <a:buFont typeface="Arial" charset="0"/>
              <a:buChar char="•"/>
            </a:pPr>
            <a:endParaRPr lang="en-US" dirty="0" smtClean="0"/>
          </a:p>
          <a:p>
            <a:endParaRPr lang="en-US" dirty="0" smtClean="0"/>
          </a:p>
          <a:p>
            <a:endParaRPr lang="en-US" dirty="0"/>
          </a:p>
        </p:txBody>
      </p:sp>
      <p:pic>
        <p:nvPicPr>
          <p:cNvPr id="6" name="Picture 5"/>
          <p:cNvPicPr>
            <a:picLocks noChangeAspect="1"/>
          </p:cNvPicPr>
          <p:nvPr/>
        </p:nvPicPr>
        <p:blipFill>
          <a:blip r:embed="rId2"/>
          <a:stretch>
            <a:fillRect/>
          </a:stretch>
        </p:blipFill>
        <p:spPr>
          <a:xfrm>
            <a:off x="2620432" y="3259667"/>
            <a:ext cx="4165600" cy="3340100"/>
          </a:xfrm>
          <a:prstGeom prst="rect">
            <a:avLst/>
          </a:prstGeom>
        </p:spPr>
      </p:pic>
      <p:pic>
        <p:nvPicPr>
          <p:cNvPr id="7" name="Picture 6"/>
          <p:cNvPicPr>
            <a:picLocks noChangeAspect="1"/>
          </p:cNvPicPr>
          <p:nvPr/>
        </p:nvPicPr>
        <p:blipFill>
          <a:blip r:embed="rId3"/>
          <a:stretch>
            <a:fillRect/>
          </a:stretch>
        </p:blipFill>
        <p:spPr>
          <a:xfrm>
            <a:off x="7050614" y="3259667"/>
            <a:ext cx="4254500" cy="1168400"/>
          </a:xfrm>
          <a:prstGeom prst="rect">
            <a:avLst/>
          </a:prstGeom>
        </p:spPr>
      </p:pic>
      <p:pic>
        <p:nvPicPr>
          <p:cNvPr id="8" name="Picture 7"/>
          <p:cNvPicPr>
            <a:picLocks noChangeAspect="1"/>
          </p:cNvPicPr>
          <p:nvPr/>
        </p:nvPicPr>
        <p:blipFill>
          <a:blip r:embed="rId4"/>
          <a:stretch>
            <a:fillRect/>
          </a:stretch>
        </p:blipFill>
        <p:spPr>
          <a:xfrm>
            <a:off x="7050614" y="4428067"/>
            <a:ext cx="4279900" cy="2489200"/>
          </a:xfrm>
          <a:prstGeom prst="rect">
            <a:avLst/>
          </a:prstGeom>
        </p:spPr>
      </p:pic>
      <p:sp>
        <p:nvSpPr>
          <p:cNvPr id="9" name="TextBox 8"/>
          <p:cNvSpPr txBox="1"/>
          <p:nvPr/>
        </p:nvSpPr>
        <p:spPr>
          <a:xfrm>
            <a:off x="8506691" y="484909"/>
            <a:ext cx="3186545" cy="646331"/>
          </a:xfrm>
          <a:prstGeom prst="rect">
            <a:avLst/>
          </a:prstGeom>
          <a:noFill/>
        </p:spPr>
        <p:txBody>
          <a:bodyPr wrap="square" rtlCol="0">
            <a:spAutoFit/>
          </a:bodyPr>
          <a:lstStyle/>
          <a:p>
            <a:r>
              <a:rPr lang="en-US" dirty="0" smtClean="0"/>
              <a:t>Short moving average filter to capture “signal”</a:t>
            </a:r>
            <a:endParaRPr lang="en-US" dirty="0"/>
          </a:p>
        </p:txBody>
      </p:sp>
      <p:sp>
        <p:nvSpPr>
          <p:cNvPr id="10" name="TextBox 9"/>
          <p:cNvSpPr txBox="1"/>
          <p:nvPr/>
        </p:nvSpPr>
        <p:spPr>
          <a:xfrm>
            <a:off x="8506691" y="2046192"/>
            <a:ext cx="3020291" cy="646331"/>
          </a:xfrm>
          <a:prstGeom prst="rect">
            <a:avLst/>
          </a:prstGeom>
          <a:noFill/>
        </p:spPr>
        <p:txBody>
          <a:bodyPr wrap="square" rtlCol="0">
            <a:spAutoFit/>
          </a:bodyPr>
          <a:lstStyle/>
          <a:p>
            <a:r>
              <a:rPr lang="en-US" smtClean="0"/>
              <a:t>Longer moving average filter to capture “noise”</a:t>
            </a:r>
            <a:endParaRPr lang="en-US"/>
          </a:p>
        </p:txBody>
      </p:sp>
    </p:spTree>
    <p:extLst>
      <p:ext uri="{BB962C8B-B14F-4D97-AF65-F5344CB8AC3E}">
        <p14:creationId xmlns:p14="http://schemas.microsoft.com/office/powerpoint/2010/main" val="362848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4461163" y="1734910"/>
            <a:ext cx="4943903" cy="5123089"/>
          </a:xfrm>
          <a:prstGeom prst="rect">
            <a:avLst/>
          </a:prstGeom>
        </p:spPr>
      </p:pic>
    </p:spTree>
    <p:extLst>
      <p:ext uri="{BB962C8B-B14F-4D97-AF65-F5344CB8AC3E}">
        <p14:creationId xmlns:p14="http://schemas.microsoft.com/office/powerpoint/2010/main" val="463015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2120153" cy="4351338"/>
          </a:xfrm>
        </p:spPr>
        <p:txBody>
          <a:bodyPr/>
          <a:lstStyle/>
          <a:p>
            <a:r>
              <a:rPr lang="en-US" dirty="0" smtClean="0"/>
              <a:t>6 results on Google Scholar until 1973</a:t>
            </a:r>
            <a:endParaRPr lang="en-US" dirty="0"/>
          </a:p>
        </p:txBody>
      </p:sp>
      <p:pic>
        <p:nvPicPr>
          <p:cNvPr id="4" name="Picture 3"/>
          <p:cNvPicPr>
            <a:picLocks noChangeAspect="1"/>
          </p:cNvPicPr>
          <p:nvPr/>
        </p:nvPicPr>
        <p:blipFill>
          <a:blip r:embed="rId2"/>
          <a:stretch>
            <a:fillRect/>
          </a:stretch>
        </p:blipFill>
        <p:spPr>
          <a:xfrm>
            <a:off x="3151893" y="107577"/>
            <a:ext cx="9782483" cy="6858000"/>
          </a:xfrm>
          <a:prstGeom prst="rect">
            <a:avLst/>
          </a:prstGeom>
        </p:spPr>
      </p:pic>
      <p:sp>
        <p:nvSpPr>
          <p:cNvPr id="5" name="Title 4"/>
          <p:cNvSpPr>
            <a:spLocks noGrp="1"/>
          </p:cNvSpPr>
          <p:nvPr>
            <p:ph type="title"/>
          </p:nvPr>
        </p:nvSpPr>
        <p:spPr/>
        <p:txBody>
          <a:bodyPr/>
          <a:lstStyle/>
          <a:p>
            <a:r>
              <a:rPr lang="en-US" dirty="0" smtClean="0"/>
              <a:t>STA/LTA</a:t>
            </a:r>
            <a:endParaRPr lang="en-US" dirty="0"/>
          </a:p>
        </p:txBody>
      </p:sp>
    </p:spTree>
    <p:extLst>
      <p:ext uri="{BB962C8B-B14F-4D97-AF65-F5344CB8AC3E}">
        <p14:creationId xmlns:p14="http://schemas.microsoft.com/office/powerpoint/2010/main" val="1623221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3195918" cy="4351338"/>
          </a:xfrm>
        </p:spPr>
        <p:txBody>
          <a:bodyPr/>
          <a:lstStyle/>
          <a:p>
            <a:r>
              <a:rPr lang="en-US" dirty="0" smtClean="0"/>
              <a:t>2500 now</a:t>
            </a:r>
            <a:endParaRPr lang="en-US" dirty="0"/>
          </a:p>
        </p:txBody>
      </p:sp>
      <p:pic>
        <p:nvPicPr>
          <p:cNvPr id="4" name="Picture 3"/>
          <p:cNvPicPr>
            <a:picLocks noChangeAspect="1"/>
          </p:cNvPicPr>
          <p:nvPr/>
        </p:nvPicPr>
        <p:blipFill>
          <a:blip r:embed="rId2"/>
          <a:stretch>
            <a:fillRect/>
          </a:stretch>
        </p:blipFill>
        <p:spPr>
          <a:xfrm>
            <a:off x="3872696" y="0"/>
            <a:ext cx="8319304" cy="6858000"/>
          </a:xfrm>
          <a:prstGeom prst="rect">
            <a:avLst/>
          </a:prstGeom>
        </p:spPr>
      </p:pic>
      <p:sp>
        <p:nvSpPr>
          <p:cNvPr id="5" name="Title 4"/>
          <p:cNvSpPr>
            <a:spLocks noGrp="1"/>
          </p:cNvSpPr>
          <p:nvPr>
            <p:ph type="title"/>
          </p:nvPr>
        </p:nvSpPr>
        <p:spPr/>
        <p:txBody>
          <a:bodyPr/>
          <a:lstStyle/>
          <a:p>
            <a:r>
              <a:rPr lang="en-US" dirty="0" smtClean="0"/>
              <a:t>STA/LTA</a:t>
            </a:r>
            <a:endParaRPr lang="en-US" dirty="0"/>
          </a:p>
        </p:txBody>
      </p:sp>
    </p:spTree>
    <p:extLst>
      <p:ext uri="{BB962C8B-B14F-4D97-AF65-F5344CB8AC3E}">
        <p14:creationId xmlns:p14="http://schemas.microsoft.com/office/powerpoint/2010/main" val="965395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2137" y="365123"/>
            <a:ext cx="11439863" cy="6370975"/>
          </a:xfrm>
          <a:prstGeom prst="rect">
            <a:avLst/>
          </a:prstGeom>
        </p:spPr>
        <p:txBody>
          <a:bodyPr wrap="square">
            <a:spAutoFit/>
          </a:bodyPr>
          <a:lstStyle/>
          <a:p>
            <a:r>
              <a:rPr lang="en-US" sz="2400" dirty="0" smtClean="0">
                <a:effectLst/>
                <a:latin typeface="Times New Roman" charset="0"/>
                <a:ea typeface="Times New Roman" charset="0"/>
                <a:cs typeface="Times New Roman" charset="0"/>
              </a:rPr>
              <a:t>Pros:</a:t>
            </a:r>
            <a:endParaRPr lang="en-US" sz="2400" dirty="0" smtClean="0">
              <a:effectLst/>
              <a:latin typeface="Calibri" charset="0"/>
              <a:ea typeface="Calibri" charset="0"/>
              <a:cs typeface="Times New Roman" charset="0"/>
            </a:endParaRPr>
          </a:p>
          <a:p>
            <a:pPr marL="342900" marR="0" lvl="0" indent="-342900">
              <a:spcBef>
                <a:spcPts val="0"/>
              </a:spcBef>
              <a:spcAft>
                <a:spcPts val="0"/>
              </a:spcAft>
              <a:buFont typeface="Symbol" charset="2"/>
              <a:buChar char=""/>
            </a:pPr>
            <a:r>
              <a:rPr lang="en-US" sz="2400" dirty="0" smtClean="0">
                <a:effectLst/>
                <a:latin typeface="Times New Roman" charset="0"/>
                <a:ea typeface="Times New Roman" charset="0"/>
                <a:cs typeface="Times New Roman" charset="0"/>
              </a:rPr>
              <a:t>STA/LTA successfully identifies earthquakes with impulsive, high signal-to-noise ratio (</a:t>
            </a:r>
            <a:r>
              <a:rPr lang="en-US" sz="2400" dirty="0" err="1" smtClean="0">
                <a:effectLst/>
                <a:latin typeface="Times New Roman" charset="0"/>
                <a:ea typeface="Times New Roman" charset="0"/>
                <a:cs typeface="Times New Roman" charset="0"/>
              </a:rPr>
              <a:t>snr</a:t>
            </a:r>
            <a:r>
              <a:rPr lang="en-US" sz="2400" dirty="0" smtClean="0">
                <a:effectLst/>
                <a:latin typeface="Times New Roman" charset="0"/>
                <a:ea typeface="Times New Roman" charset="0"/>
                <a:cs typeface="Times New Roman" charset="0"/>
              </a:rPr>
              <a:t>) P-wave and S-wave arrivals. </a:t>
            </a:r>
            <a:endParaRPr lang="en-US" sz="2400" dirty="0" smtClean="0">
              <a:effectLst/>
              <a:latin typeface="Calibri" charset="0"/>
              <a:ea typeface="Calibri" charset="0"/>
              <a:cs typeface="Times New Roman" charset="0"/>
            </a:endParaRPr>
          </a:p>
          <a:p>
            <a:pPr marL="342900" marR="0" lvl="0" indent="-342900">
              <a:spcBef>
                <a:spcPts val="0"/>
              </a:spcBef>
              <a:spcAft>
                <a:spcPts val="0"/>
              </a:spcAft>
              <a:buFont typeface="Symbol" charset="2"/>
              <a:buChar char=""/>
            </a:pPr>
            <a:r>
              <a:rPr lang="en-US" sz="2400" dirty="0" smtClean="0">
                <a:effectLst/>
                <a:latin typeface="Times New Roman" charset="0"/>
                <a:ea typeface="Times New Roman" charset="0"/>
                <a:cs typeface="Times New Roman" charset="0"/>
              </a:rPr>
              <a:t>High ability to detect a wide variety of earthquakes without prior knowledge of the event waveform or source information. </a:t>
            </a:r>
            <a:endParaRPr lang="en-US" sz="2400" dirty="0" smtClean="0">
              <a:effectLst/>
              <a:latin typeface="Calibri" charset="0"/>
              <a:ea typeface="Calibri" charset="0"/>
              <a:cs typeface="Times New Roman" charset="0"/>
            </a:endParaRPr>
          </a:p>
          <a:p>
            <a:pPr marL="342900" marR="0" lvl="0" indent="-342900">
              <a:spcBef>
                <a:spcPts val="0"/>
              </a:spcBef>
              <a:spcAft>
                <a:spcPts val="0"/>
              </a:spcAft>
              <a:buFont typeface="Symbol" charset="2"/>
              <a:buChar char=""/>
            </a:pPr>
            <a:r>
              <a:rPr lang="en-US" sz="2400" dirty="0" smtClean="0">
                <a:effectLst/>
                <a:latin typeface="Times New Roman" charset="0"/>
                <a:ea typeface="Times New Roman" charset="0"/>
                <a:cs typeface="Times New Roman" charset="0"/>
              </a:rPr>
              <a:t>Fast</a:t>
            </a:r>
            <a:endParaRPr lang="en-US" sz="2400" dirty="0" smtClean="0">
              <a:effectLst/>
              <a:latin typeface="Calibri" charset="0"/>
              <a:ea typeface="Calibri" charset="0"/>
              <a:cs typeface="Times New Roman" charset="0"/>
            </a:endParaRPr>
          </a:p>
          <a:p>
            <a:r>
              <a:rPr lang="en-US" sz="2400" dirty="0" smtClean="0">
                <a:effectLst/>
                <a:latin typeface="Times New Roman" charset="0"/>
                <a:ea typeface="Times New Roman" charset="0"/>
                <a:cs typeface="Times New Roman" charset="0"/>
              </a:rPr>
              <a:t> </a:t>
            </a:r>
            <a:endParaRPr lang="en-US" sz="2400" dirty="0" smtClean="0">
              <a:effectLst/>
              <a:latin typeface="Calibri" charset="0"/>
              <a:ea typeface="Calibri" charset="0"/>
              <a:cs typeface="Times New Roman" charset="0"/>
            </a:endParaRPr>
          </a:p>
          <a:p>
            <a:r>
              <a:rPr lang="en-US" sz="2400" dirty="0" smtClean="0">
                <a:effectLst/>
                <a:latin typeface="Times New Roman" charset="0"/>
                <a:ea typeface="Times New Roman" charset="0"/>
                <a:cs typeface="Times New Roman" charset="0"/>
              </a:rPr>
              <a:t>Cons</a:t>
            </a:r>
            <a:endParaRPr lang="en-US" sz="2400" dirty="0" smtClean="0">
              <a:effectLst/>
              <a:latin typeface="Calibri" charset="0"/>
              <a:ea typeface="Calibri" charset="0"/>
              <a:cs typeface="Times New Roman" charset="0"/>
            </a:endParaRPr>
          </a:p>
          <a:p>
            <a:pPr marL="342900" marR="0" lvl="0" indent="-342900">
              <a:spcBef>
                <a:spcPts val="0"/>
              </a:spcBef>
              <a:spcAft>
                <a:spcPts val="0"/>
              </a:spcAft>
              <a:buFont typeface="Symbol" charset="2"/>
              <a:buChar char=""/>
            </a:pPr>
            <a:r>
              <a:rPr lang="en-US" sz="2400" dirty="0" smtClean="0">
                <a:effectLst/>
                <a:latin typeface="Times New Roman" charset="0"/>
                <a:ea typeface="Times New Roman" charset="0"/>
                <a:cs typeface="Times New Roman" charset="0"/>
              </a:rPr>
              <a:t>STA/LTA fails to detect earthquakes, or may produce false detections, in more challenging situations such as:</a:t>
            </a:r>
            <a:endParaRPr lang="en-US" sz="2400" dirty="0" smtClean="0">
              <a:effectLst/>
              <a:latin typeface="Calibri" charset="0"/>
              <a:ea typeface="Calibri" charset="0"/>
              <a:cs typeface="Times New Roman" charset="0"/>
            </a:endParaRPr>
          </a:p>
          <a:p>
            <a:pPr marL="742950" marR="0" lvl="1" indent="-285750">
              <a:spcBef>
                <a:spcPts val="0"/>
              </a:spcBef>
              <a:spcAft>
                <a:spcPts val="0"/>
              </a:spcAft>
              <a:buFont typeface="Courier New" charset="0"/>
              <a:buChar char="o"/>
            </a:pPr>
            <a:r>
              <a:rPr lang="en-US" sz="2400" dirty="0" smtClean="0">
                <a:effectLst/>
                <a:latin typeface="Times New Roman" charset="0"/>
                <a:ea typeface="Times New Roman" charset="0"/>
                <a:cs typeface="Times New Roman" charset="0"/>
              </a:rPr>
              <a:t>low </a:t>
            </a:r>
            <a:r>
              <a:rPr lang="en-US" sz="2400" dirty="0" err="1" smtClean="0">
                <a:effectLst/>
                <a:latin typeface="Times New Roman" charset="0"/>
                <a:ea typeface="Times New Roman" charset="0"/>
                <a:cs typeface="Times New Roman" charset="0"/>
              </a:rPr>
              <a:t>snr</a:t>
            </a:r>
            <a:endParaRPr lang="en-US" sz="2400" dirty="0" smtClean="0">
              <a:effectLst/>
              <a:latin typeface="Calibri" charset="0"/>
              <a:ea typeface="Calibri" charset="0"/>
              <a:cs typeface="Times New Roman" charset="0"/>
            </a:endParaRPr>
          </a:p>
          <a:p>
            <a:pPr marL="742950" marR="0" lvl="1" indent="-285750">
              <a:spcBef>
                <a:spcPts val="0"/>
              </a:spcBef>
              <a:spcAft>
                <a:spcPts val="0"/>
              </a:spcAft>
              <a:buFont typeface="Courier New" charset="0"/>
              <a:buChar char="o"/>
            </a:pPr>
            <a:r>
              <a:rPr lang="en-US" sz="2400" dirty="0" smtClean="0">
                <a:effectLst/>
                <a:latin typeface="Times New Roman" charset="0"/>
                <a:ea typeface="Times New Roman" charset="0"/>
                <a:cs typeface="Times New Roman" charset="0"/>
              </a:rPr>
              <a:t>waveforms with emergent arrivals</a:t>
            </a:r>
            <a:endParaRPr lang="en-US" sz="2400" dirty="0" smtClean="0">
              <a:effectLst/>
              <a:latin typeface="Calibri" charset="0"/>
              <a:ea typeface="Calibri" charset="0"/>
              <a:cs typeface="Times New Roman" charset="0"/>
            </a:endParaRPr>
          </a:p>
          <a:p>
            <a:pPr marL="742950" marR="0" lvl="1" indent="-285750">
              <a:spcBef>
                <a:spcPts val="0"/>
              </a:spcBef>
              <a:spcAft>
                <a:spcPts val="0"/>
              </a:spcAft>
              <a:buFont typeface="Courier New" charset="0"/>
              <a:buChar char="o"/>
            </a:pPr>
            <a:r>
              <a:rPr lang="en-US" sz="2400" dirty="0" smtClean="0">
                <a:effectLst/>
                <a:latin typeface="Times New Roman" charset="0"/>
                <a:ea typeface="Times New Roman" charset="0"/>
                <a:cs typeface="Times New Roman" charset="0"/>
              </a:rPr>
              <a:t>overlapping events</a:t>
            </a:r>
            <a:endParaRPr lang="en-US" sz="2400" dirty="0" smtClean="0">
              <a:effectLst/>
              <a:latin typeface="Calibri" charset="0"/>
              <a:ea typeface="Calibri" charset="0"/>
              <a:cs typeface="Times New Roman" charset="0"/>
            </a:endParaRPr>
          </a:p>
          <a:p>
            <a:pPr marL="742950" marR="0" lvl="1" indent="-285750">
              <a:spcBef>
                <a:spcPts val="0"/>
              </a:spcBef>
              <a:spcAft>
                <a:spcPts val="0"/>
              </a:spcAft>
              <a:buFont typeface="Courier New" charset="0"/>
              <a:buChar char="o"/>
            </a:pPr>
            <a:r>
              <a:rPr lang="en-US" sz="2400" dirty="0" smtClean="0">
                <a:effectLst/>
                <a:latin typeface="Times New Roman" charset="0"/>
                <a:ea typeface="Times New Roman" charset="0"/>
                <a:cs typeface="Times New Roman" charset="0"/>
              </a:rPr>
              <a:t>cultural noise</a:t>
            </a:r>
            <a:endParaRPr lang="en-US" sz="2400" dirty="0" smtClean="0">
              <a:effectLst/>
              <a:latin typeface="Calibri" charset="0"/>
              <a:ea typeface="Calibri" charset="0"/>
              <a:cs typeface="Times New Roman" charset="0"/>
            </a:endParaRPr>
          </a:p>
          <a:p>
            <a:pPr marL="742950" marR="0" lvl="1" indent="-285750">
              <a:spcBef>
                <a:spcPts val="0"/>
              </a:spcBef>
              <a:spcAft>
                <a:spcPts val="0"/>
              </a:spcAft>
              <a:buFont typeface="Courier New" charset="0"/>
              <a:buChar char="o"/>
            </a:pPr>
            <a:r>
              <a:rPr lang="en-US" sz="2400" dirty="0" smtClean="0">
                <a:effectLst/>
                <a:latin typeface="Times New Roman" charset="0"/>
                <a:ea typeface="Times New Roman" charset="0"/>
                <a:cs typeface="Times New Roman" charset="0"/>
              </a:rPr>
              <a:t>sparse station spacing; </a:t>
            </a:r>
            <a:endParaRPr lang="en-US" sz="2400" dirty="0" smtClean="0">
              <a:effectLst/>
              <a:latin typeface="Calibri" charset="0"/>
              <a:ea typeface="Calibri" charset="0"/>
              <a:cs typeface="Times New Roman" charset="0"/>
            </a:endParaRPr>
          </a:p>
          <a:p>
            <a:pPr marL="457200" marR="0">
              <a:spcBef>
                <a:spcPts val="0"/>
              </a:spcBef>
              <a:spcAft>
                <a:spcPts val="0"/>
              </a:spcAft>
            </a:pPr>
            <a:r>
              <a:rPr lang="en-US" sz="2400" dirty="0" smtClean="0">
                <a:effectLst/>
                <a:latin typeface="Times New Roman" charset="0"/>
                <a:ea typeface="Times New Roman" charset="0"/>
                <a:cs typeface="Times New Roman" charset="0"/>
              </a:rPr>
              <a:t>thus, STA/LTA has low detection sensitivity. Therefore, earthquake catalogs are incomplete for lower-magnitude events</a:t>
            </a:r>
            <a:r>
              <a:rPr lang="en-US" sz="1200" dirty="0" smtClean="0">
                <a:effectLst/>
                <a:latin typeface="Times New Roman" charset="0"/>
                <a:ea typeface="Times New Roman" charset="0"/>
                <a:cs typeface="Times New Roman" charset="0"/>
              </a:rPr>
              <a:t>. </a:t>
            </a:r>
            <a:endParaRPr lang="en-US" sz="1200" dirty="0">
              <a:effectLst/>
              <a:latin typeface="Calibri" charset="0"/>
              <a:ea typeface="Calibri" charset="0"/>
              <a:cs typeface="Times New Roman" charset="0"/>
            </a:endParaRPr>
          </a:p>
        </p:txBody>
      </p:sp>
    </p:spTree>
    <p:extLst>
      <p:ext uri="{BB962C8B-B14F-4D97-AF65-F5344CB8AC3E}">
        <p14:creationId xmlns:p14="http://schemas.microsoft.com/office/powerpoint/2010/main" val="633348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895" y="351192"/>
            <a:ext cx="9628991" cy="5355312"/>
          </a:xfrm>
          <a:prstGeom prst="rect">
            <a:avLst/>
          </a:prstGeom>
        </p:spPr>
        <p:txBody>
          <a:bodyPr wrap="square">
            <a:spAutoFit/>
          </a:bodyPr>
          <a:lstStyle/>
          <a:p>
            <a:r>
              <a:rPr lang="en-US" b="1" dirty="0" smtClean="0">
                <a:effectLst/>
                <a:latin typeface="Times New Roman" charset="0"/>
                <a:ea typeface="Times New Roman" charset="0"/>
                <a:cs typeface="Times New Roman" charset="0"/>
              </a:rPr>
              <a:t>Other methods</a:t>
            </a:r>
            <a:endParaRPr lang="en-US" dirty="0" smtClean="0">
              <a:effectLst/>
              <a:latin typeface="Calibri" charset="0"/>
              <a:ea typeface="Calibri" charset="0"/>
              <a:cs typeface="Times New Roman" charset="0"/>
            </a:endParaRPr>
          </a:p>
          <a:p>
            <a:r>
              <a:rPr lang="en-US" dirty="0" smtClean="0">
                <a:effectLst/>
                <a:latin typeface="Times New Roman" charset="0"/>
                <a:ea typeface="Times New Roman" charset="0"/>
                <a:cs typeface="Times New Roman" charset="0"/>
              </a:rPr>
              <a:t>We can overcome the limitations of STA/LTA by using the full waveform!</a:t>
            </a:r>
            <a:endParaRPr lang="en-US" dirty="0" smtClean="0">
              <a:effectLst/>
              <a:latin typeface="Calibri" charset="0"/>
              <a:ea typeface="Calibri" charset="0"/>
              <a:cs typeface="Times New Roman" charset="0"/>
            </a:endParaRPr>
          </a:p>
          <a:p>
            <a:r>
              <a:rPr lang="en-US" dirty="0" smtClean="0">
                <a:effectLst/>
                <a:latin typeface="Times New Roman" charset="0"/>
                <a:ea typeface="Times New Roman" charset="0"/>
                <a:cs typeface="Times New Roman" charset="0"/>
              </a:rPr>
              <a:t> </a:t>
            </a:r>
            <a:endParaRPr lang="en-US" dirty="0" smtClean="0">
              <a:effectLst/>
              <a:latin typeface="Calibri" charset="0"/>
              <a:ea typeface="Calibri" charset="0"/>
              <a:cs typeface="Times New Roman" charset="0"/>
            </a:endParaRPr>
          </a:p>
          <a:p>
            <a:pPr marL="342900" indent="-342900">
              <a:buFont typeface="+mj-lt"/>
              <a:buAutoNum type="arabicParenBoth"/>
            </a:pPr>
            <a:r>
              <a:rPr lang="en-US" b="1" dirty="0" smtClean="0">
                <a:effectLst/>
                <a:latin typeface="Times New Roman" charset="0"/>
                <a:ea typeface="Times New Roman" charset="0"/>
                <a:cs typeface="Times New Roman" charset="0"/>
              </a:rPr>
              <a:t>Waveform cross-correlation (also called “matched filtering” and “template matching”)</a:t>
            </a:r>
            <a:endParaRPr lang="en-US" dirty="0" smtClean="0">
              <a:effectLst/>
              <a:latin typeface="Calibri" charset="0"/>
              <a:ea typeface="Calibri" charset="0"/>
              <a:cs typeface="Times New Roman" charset="0"/>
            </a:endParaRPr>
          </a:p>
          <a:p>
            <a:pPr marL="228600" marR="0">
              <a:spcBef>
                <a:spcPts val="0"/>
              </a:spcBef>
              <a:spcAft>
                <a:spcPts val="0"/>
              </a:spcAft>
            </a:pPr>
            <a:r>
              <a:rPr lang="en-US" dirty="0" smtClean="0">
                <a:effectLst/>
                <a:latin typeface="Times New Roman" charset="0"/>
                <a:ea typeface="Times New Roman" charset="0"/>
                <a:cs typeface="Times New Roman" charset="0"/>
              </a:rPr>
              <a:t>Seismic sources that repeat in time, over the course of weeks, months, or even years, have highly similar waveforms when recorded at the same station. Waveform cross-correlation exploits the resulting waveform similarity to perform as a highly sensitive earthquake detector (provided you know what you are looking for!). Computationally inefficient.</a:t>
            </a:r>
          </a:p>
          <a:p>
            <a:pPr marL="228600" marR="0">
              <a:spcBef>
                <a:spcPts val="0"/>
              </a:spcBef>
              <a:spcAft>
                <a:spcPts val="0"/>
              </a:spcAft>
            </a:pPr>
            <a:endParaRPr lang="en-US" dirty="0">
              <a:latin typeface="Times New Roman" charset="0"/>
              <a:ea typeface="Times New Roman" charset="0"/>
              <a:cs typeface="Times New Roman" charset="0"/>
            </a:endParaRPr>
          </a:p>
          <a:p>
            <a:pPr marL="228600" marR="0">
              <a:spcBef>
                <a:spcPts val="0"/>
              </a:spcBef>
              <a:spcAft>
                <a:spcPts val="0"/>
              </a:spcAft>
            </a:pPr>
            <a:r>
              <a:rPr lang="en-US" b="1" dirty="0" smtClean="0">
                <a:effectLst/>
                <a:latin typeface="Times New Roman" charset="0"/>
                <a:ea typeface="Times New Roman" charset="0"/>
                <a:cs typeface="Times New Roman" charset="0"/>
              </a:rPr>
              <a:t>(2) Waveform auto-correlation</a:t>
            </a:r>
          </a:p>
          <a:p>
            <a:pPr marL="228600" marR="0">
              <a:spcBef>
                <a:spcPts val="0"/>
              </a:spcBef>
              <a:spcAft>
                <a:spcPts val="0"/>
              </a:spcAft>
            </a:pPr>
            <a:r>
              <a:rPr lang="en-US" dirty="0" smtClean="0">
                <a:latin typeface="Times New Roman" charset="0"/>
                <a:ea typeface="Times New Roman" charset="0"/>
                <a:cs typeface="Times New Roman" charset="0"/>
              </a:rPr>
              <a:t>Correlate whole waveform against itself. Computationally expensive.</a:t>
            </a:r>
          </a:p>
          <a:p>
            <a:pPr marL="228600" marR="0">
              <a:spcBef>
                <a:spcPts val="0"/>
              </a:spcBef>
              <a:spcAft>
                <a:spcPts val="0"/>
              </a:spcAft>
            </a:pPr>
            <a:endParaRPr lang="en-US" dirty="0">
              <a:effectLst/>
              <a:latin typeface="Times New Roman" charset="0"/>
              <a:ea typeface="Times New Roman" charset="0"/>
              <a:cs typeface="Times New Roman" charset="0"/>
            </a:endParaRPr>
          </a:p>
          <a:p>
            <a:pPr marL="228600" marR="0">
              <a:spcBef>
                <a:spcPts val="0"/>
              </a:spcBef>
              <a:spcAft>
                <a:spcPts val="0"/>
              </a:spcAft>
            </a:pPr>
            <a:r>
              <a:rPr lang="en-US" dirty="0" smtClean="0">
                <a:latin typeface="Times New Roman" charset="0"/>
                <a:ea typeface="Times New Roman" charset="0"/>
                <a:cs typeface="Times New Roman" charset="0"/>
              </a:rPr>
              <a:t>But computer power per dollar doubles every 2 years (1000 times in 20 years).</a:t>
            </a:r>
          </a:p>
          <a:p>
            <a:pPr marL="228600" marR="0">
              <a:spcBef>
                <a:spcPts val="0"/>
              </a:spcBef>
              <a:spcAft>
                <a:spcPts val="0"/>
              </a:spcAft>
            </a:pPr>
            <a:r>
              <a:rPr lang="en-US" dirty="0" smtClean="0">
                <a:latin typeface="Times New Roman" charset="0"/>
                <a:ea typeface="Times New Roman" charset="0"/>
                <a:cs typeface="Times New Roman" charset="0"/>
              </a:rPr>
              <a:t>1970s: STA/LTA cutting edge</a:t>
            </a:r>
          </a:p>
          <a:p>
            <a:pPr marL="228600" marR="0">
              <a:spcBef>
                <a:spcPts val="0"/>
              </a:spcBef>
              <a:spcAft>
                <a:spcPts val="0"/>
              </a:spcAft>
            </a:pPr>
            <a:r>
              <a:rPr lang="en-US" dirty="0" smtClean="0">
                <a:latin typeface="Times New Roman" charset="0"/>
                <a:ea typeface="Times New Roman" charset="0"/>
                <a:cs typeface="Times New Roman" charset="0"/>
              </a:rPr>
              <a:t>1990s: (when Steve was my age) Waveform correlation cutting edge, STA/LTA routine.</a:t>
            </a:r>
          </a:p>
          <a:p>
            <a:pPr marL="228600" marR="0">
              <a:spcBef>
                <a:spcPts val="0"/>
              </a:spcBef>
              <a:spcAft>
                <a:spcPts val="0"/>
              </a:spcAft>
            </a:pPr>
            <a:r>
              <a:rPr lang="en-US" dirty="0" smtClean="0">
                <a:latin typeface="Times New Roman" charset="0"/>
                <a:ea typeface="Times New Roman" charset="0"/>
                <a:cs typeface="Times New Roman" charset="0"/>
              </a:rPr>
              <a:t>2010s: Waveform auto-correlation cutting edge, waveform correlation routine. </a:t>
            </a:r>
          </a:p>
          <a:p>
            <a:pPr marL="228600" marR="0">
              <a:spcBef>
                <a:spcPts val="0"/>
              </a:spcBef>
              <a:spcAft>
                <a:spcPts val="0"/>
              </a:spcAft>
            </a:pPr>
            <a:r>
              <a:rPr lang="en-US" dirty="0" smtClean="0">
                <a:effectLst/>
                <a:latin typeface="Times New Roman" charset="0"/>
                <a:ea typeface="Times New Roman" charset="0"/>
                <a:cs typeface="Times New Roman" charset="0"/>
              </a:rPr>
              <a:t>2030s: (when you are my age!) </a:t>
            </a:r>
            <a:r>
              <a:rPr lang="en-US" dirty="0" smtClean="0">
                <a:latin typeface="Times New Roman" charset="0"/>
                <a:ea typeface="Times New Roman" charset="0"/>
                <a:cs typeface="Times New Roman" charset="0"/>
              </a:rPr>
              <a:t>Waveform auto-correlation routine. </a:t>
            </a:r>
          </a:p>
          <a:p>
            <a:pPr marL="228600" marR="0">
              <a:spcBef>
                <a:spcPts val="0"/>
              </a:spcBef>
              <a:spcAft>
                <a:spcPts val="0"/>
              </a:spcAft>
            </a:pPr>
            <a:endParaRPr lang="en-US" dirty="0" smtClean="0">
              <a:effectLst/>
              <a:latin typeface="Calibri" charset="0"/>
              <a:ea typeface="Calibri" charset="0"/>
              <a:cs typeface="Times New Roman" charset="0"/>
            </a:endParaRPr>
          </a:p>
          <a:p>
            <a:pPr marL="228600" marR="0">
              <a:spcBef>
                <a:spcPts val="0"/>
              </a:spcBef>
              <a:spcAft>
                <a:spcPts val="0"/>
              </a:spcAft>
            </a:pPr>
            <a:r>
              <a:rPr lang="en-US" i="1" dirty="0" smtClean="0">
                <a:latin typeface="Calibri" charset="0"/>
                <a:ea typeface="Calibri" charset="0"/>
                <a:cs typeface="Times New Roman" charset="0"/>
              </a:rPr>
              <a:t>“Today’s research techniques become tomorrow’s routine monitoring tools” </a:t>
            </a:r>
            <a:r>
              <a:rPr lang="en-US" dirty="0" smtClean="0">
                <a:latin typeface="Calibri" charset="0"/>
                <a:ea typeface="Calibri" charset="0"/>
                <a:cs typeface="Times New Roman" charset="0"/>
              </a:rPr>
              <a:t>– some Brit.</a:t>
            </a:r>
            <a:endParaRPr lang="en-US" dirty="0">
              <a:effectLst/>
              <a:latin typeface="Calibri" charset="0"/>
              <a:ea typeface="Calibri" charset="0"/>
              <a:cs typeface="Times New Roman" charset="0"/>
            </a:endParaRPr>
          </a:p>
        </p:txBody>
      </p:sp>
    </p:spTree>
    <p:extLst>
      <p:ext uri="{BB962C8B-B14F-4D97-AF65-F5344CB8AC3E}">
        <p14:creationId xmlns:p14="http://schemas.microsoft.com/office/powerpoint/2010/main" val="328889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1825625"/>
            <a:ext cx="4357221" cy="4351338"/>
          </a:xfrm>
        </p:spPr>
        <p:txBody>
          <a:bodyPr/>
          <a:lstStyle/>
          <a:p>
            <a:r>
              <a:rPr lang="en-US" dirty="0" smtClean="0"/>
              <a:t>Rex Allan pickers – trying to get P and S wave arrival times from STA/LTA</a:t>
            </a:r>
            <a:endParaRPr lang="en-US" dirty="0"/>
          </a:p>
        </p:txBody>
      </p:sp>
      <p:pic>
        <p:nvPicPr>
          <p:cNvPr id="4" name="Picture 3"/>
          <p:cNvPicPr>
            <a:picLocks noChangeAspect="1"/>
          </p:cNvPicPr>
          <p:nvPr/>
        </p:nvPicPr>
        <p:blipFill>
          <a:blip r:embed="rId2"/>
          <a:stretch>
            <a:fillRect/>
          </a:stretch>
        </p:blipFill>
        <p:spPr>
          <a:xfrm>
            <a:off x="5195421" y="292100"/>
            <a:ext cx="6642100" cy="6565900"/>
          </a:xfrm>
          <a:prstGeom prst="rect">
            <a:avLst/>
          </a:prstGeom>
        </p:spPr>
      </p:pic>
    </p:spTree>
    <p:extLst>
      <p:ext uri="{BB962C8B-B14F-4D97-AF65-F5344CB8AC3E}">
        <p14:creationId xmlns:p14="http://schemas.microsoft.com/office/powerpoint/2010/main" val="1454296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4583654" cy="4351338"/>
          </a:xfrm>
        </p:spPr>
        <p:txBody>
          <a:bodyPr/>
          <a:lstStyle/>
          <a:p>
            <a:r>
              <a:rPr lang="en-US" dirty="0" smtClean="0"/>
              <a:t>Locating events by time delaying &amp; stacking STA/LTA on a grid</a:t>
            </a:r>
            <a:endParaRPr lang="en-US" dirty="0"/>
          </a:p>
        </p:txBody>
      </p:sp>
      <p:pic>
        <p:nvPicPr>
          <p:cNvPr id="4" name="Picture 3"/>
          <p:cNvPicPr>
            <a:picLocks noChangeAspect="1"/>
          </p:cNvPicPr>
          <p:nvPr/>
        </p:nvPicPr>
        <p:blipFill>
          <a:blip r:embed="rId2"/>
          <a:stretch>
            <a:fillRect/>
          </a:stretch>
        </p:blipFill>
        <p:spPr>
          <a:xfrm>
            <a:off x="5421854" y="0"/>
            <a:ext cx="6676014" cy="6858000"/>
          </a:xfrm>
          <a:prstGeom prst="rect">
            <a:avLst/>
          </a:prstGeom>
        </p:spPr>
      </p:pic>
    </p:spTree>
    <p:extLst>
      <p:ext uri="{BB962C8B-B14F-4D97-AF65-F5344CB8AC3E}">
        <p14:creationId xmlns:p14="http://schemas.microsoft.com/office/powerpoint/2010/main" val="2024813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7569200" y="365125"/>
            <a:ext cx="4622800" cy="6121400"/>
          </a:xfrm>
          <a:prstGeom prst="rect">
            <a:avLst/>
          </a:prstGeom>
        </p:spPr>
      </p:pic>
      <p:pic>
        <p:nvPicPr>
          <p:cNvPr id="5" name="Picture 4"/>
          <p:cNvPicPr>
            <a:picLocks noChangeAspect="1"/>
          </p:cNvPicPr>
          <p:nvPr/>
        </p:nvPicPr>
        <p:blipFill>
          <a:blip r:embed="rId3"/>
          <a:stretch>
            <a:fillRect/>
          </a:stretch>
        </p:blipFill>
        <p:spPr>
          <a:xfrm>
            <a:off x="0" y="351632"/>
            <a:ext cx="7645400" cy="3987800"/>
          </a:xfrm>
          <a:prstGeom prst="rect">
            <a:avLst/>
          </a:prstGeom>
        </p:spPr>
      </p:pic>
      <p:sp>
        <p:nvSpPr>
          <p:cNvPr id="6" name="TextBox 5"/>
          <p:cNvSpPr txBox="1"/>
          <p:nvPr/>
        </p:nvSpPr>
        <p:spPr>
          <a:xfrm>
            <a:off x="838200" y="4432151"/>
            <a:ext cx="6477000" cy="1754326"/>
          </a:xfrm>
          <a:prstGeom prst="rect">
            <a:avLst/>
          </a:prstGeom>
          <a:noFill/>
        </p:spPr>
        <p:txBody>
          <a:bodyPr wrap="square" rtlCol="0">
            <a:spAutoFit/>
          </a:bodyPr>
          <a:lstStyle/>
          <a:p>
            <a:r>
              <a:rPr lang="en-US" dirty="0" smtClean="0"/>
              <a:t>An attempt to combine:</a:t>
            </a:r>
          </a:p>
          <a:p>
            <a:pPr marL="285750" indent="-285750">
              <a:buFontTx/>
              <a:buChar char="-"/>
            </a:pPr>
            <a:r>
              <a:rPr lang="en-US" dirty="0" smtClean="0"/>
              <a:t>STA/LTA</a:t>
            </a:r>
          </a:p>
          <a:p>
            <a:pPr marL="285750" indent="-285750">
              <a:buFontTx/>
              <a:buChar char="-"/>
            </a:pPr>
            <a:r>
              <a:rPr lang="en-US" dirty="0" smtClean="0"/>
              <a:t>Waveform correlation (template matching)</a:t>
            </a:r>
          </a:p>
          <a:p>
            <a:pPr marL="285750" indent="-285750">
              <a:buFontTx/>
              <a:buChar char="-"/>
            </a:pPr>
            <a:r>
              <a:rPr lang="en-US" dirty="0" smtClean="0"/>
              <a:t>Autocorrelation (whole waveform with itself)</a:t>
            </a:r>
            <a:endParaRPr lang="en-US" dirty="0"/>
          </a:p>
          <a:p>
            <a:endParaRPr lang="en-US" dirty="0" smtClean="0"/>
          </a:p>
          <a:p>
            <a:r>
              <a:rPr lang="en-US" dirty="0" smtClean="0"/>
              <a:t>All DSP techniques!</a:t>
            </a:r>
          </a:p>
        </p:txBody>
      </p:sp>
    </p:spTree>
    <p:extLst>
      <p:ext uri="{BB962C8B-B14F-4D97-AF65-F5344CB8AC3E}">
        <p14:creationId xmlns:p14="http://schemas.microsoft.com/office/powerpoint/2010/main" val="1263145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STA/LTA in software packages</a:t>
            </a:r>
            <a:endParaRPr lang="en-US" dirty="0"/>
          </a:p>
        </p:txBody>
      </p:sp>
      <p:sp>
        <p:nvSpPr>
          <p:cNvPr id="3" name="Content Placeholder 2"/>
          <p:cNvSpPr>
            <a:spLocks noGrp="1"/>
          </p:cNvSpPr>
          <p:nvPr>
            <p:ph idx="1"/>
          </p:nvPr>
        </p:nvSpPr>
        <p:spPr>
          <a:xfrm>
            <a:off x="0" y="1825625"/>
            <a:ext cx="12192000" cy="4351338"/>
          </a:xfrm>
        </p:spPr>
        <p:txBody>
          <a:bodyPr>
            <a:normAutofit fontScale="92500" lnSpcReduction="20000"/>
          </a:bodyPr>
          <a:lstStyle/>
          <a:p>
            <a:pPr marL="0" indent="0">
              <a:buNone/>
            </a:pPr>
            <a:r>
              <a:rPr lang="en-US" sz="3600" b="1" dirty="0" smtClean="0"/>
              <a:t>Real-time systems (all C programming language = fast):</a:t>
            </a:r>
          </a:p>
          <a:p>
            <a:pPr marL="0" indent="0">
              <a:buNone/>
            </a:pPr>
            <a:r>
              <a:rPr lang="en-US" dirty="0" smtClean="0"/>
              <a:t>Earthworm: </a:t>
            </a:r>
            <a:r>
              <a:rPr lang="en-US" dirty="0" smtClean="0">
                <a:sym typeface="Wingdings"/>
              </a:rPr>
              <a:t> </a:t>
            </a:r>
            <a:r>
              <a:rPr lang="en-US" dirty="0" smtClean="0">
                <a:hlinkClick r:id="rId2"/>
              </a:rPr>
              <a:t>http://love.isti.com/trac/ew/wiki/carlstatrig</a:t>
            </a:r>
            <a:endParaRPr lang="en-US" dirty="0"/>
          </a:p>
          <a:p>
            <a:pPr marL="0" indent="0">
              <a:buNone/>
            </a:pPr>
            <a:r>
              <a:rPr lang="en-US" dirty="0" smtClean="0"/>
              <a:t>Antelope: </a:t>
            </a:r>
            <a:r>
              <a:rPr lang="en-US" dirty="0" err="1" smtClean="0"/>
              <a:t>orbdetect</a:t>
            </a:r>
            <a:endParaRPr lang="en-US" dirty="0" smtClean="0"/>
          </a:p>
          <a:p>
            <a:pPr marL="0" indent="0">
              <a:buNone/>
            </a:pPr>
            <a:r>
              <a:rPr lang="en-US" dirty="0" smtClean="0"/>
              <a:t>SeisComP3: </a:t>
            </a:r>
            <a:r>
              <a:rPr lang="en-US" dirty="0" smtClean="0">
                <a:hlinkClick r:id="rId3"/>
              </a:rPr>
              <a:t>https://www.seiscomp3.org/wiki/doc/applications/scautopick</a:t>
            </a:r>
            <a:endParaRPr lang="en-US" dirty="0" smtClean="0"/>
          </a:p>
          <a:p>
            <a:pPr marL="0" indent="0">
              <a:buNone/>
            </a:pPr>
            <a:endParaRPr lang="en-US" dirty="0" smtClean="0"/>
          </a:p>
          <a:p>
            <a:pPr marL="0" indent="0">
              <a:buNone/>
            </a:pPr>
            <a:r>
              <a:rPr lang="en-US" sz="3800" b="1" dirty="0" smtClean="0"/>
              <a:t>Post-processing:</a:t>
            </a:r>
            <a:endParaRPr lang="en-US" sz="3800" b="1" dirty="0"/>
          </a:p>
          <a:p>
            <a:pPr marL="0" indent="0">
              <a:buNone/>
            </a:pPr>
            <a:r>
              <a:rPr lang="en-US" dirty="0" smtClean="0"/>
              <a:t>Antelope: </a:t>
            </a:r>
            <a:r>
              <a:rPr lang="en-US" dirty="0" err="1" smtClean="0"/>
              <a:t>dbdetect</a:t>
            </a:r>
            <a:endParaRPr lang="en-US" dirty="0" smtClean="0"/>
          </a:p>
          <a:p>
            <a:pPr marL="0" indent="0">
              <a:buNone/>
            </a:pPr>
            <a:r>
              <a:rPr lang="en-US" dirty="0" err="1" smtClean="0"/>
              <a:t>ObsPy</a:t>
            </a:r>
            <a:r>
              <a:rPr lang="en-US" dirty="0" smtClean="0"/>
              <a:t> (Python): </a:t>
            </a:r>
            <a:r>
              <a:rPr lang="en-US" dirty="0" smtClean="0">
                <a:hlinkClick r:id="rId4"/>
              </a:rPr>
              <a:t>https://docs.obspy.org/tutorial/code_snippets/trigger_tutorial.html</a:t>
            </a:r>
            <a:endParaRPr lang="en-US" dirty="0" smtClean="0"/>
          </a:p>
          <a:p>
            <a:pPr marL="0" indent="0">
              <a:buNone/>
            </a:pPr>
            <a:r>
              <a:rPr lang="en-US" dirty="0" smtClean="0"/>
              <a:t>GISMO</a:t>
            </a:r>
            <a:r>
              <a:rPr lang="en-US" dirty="0"/>
              <a:t> </a:t>
            </a:r>
            <a:r>
              <a:rPr lang="en-US" dirty="0" smtClean="0"/>
              <a:t>(</a:t>
            </a:r>
            <a:r>
              <a:rPr lang="en-US" dirty="0" err="1" smtClean="0"/>
              <a:t>Matlab</a:t>
            </a:r>
            <a:r>
              <a:rPr lang="en-US" dirty="0" smtClean="0"/>
              <a:t>):</a:t>
            </a:r>
          </a:p>
          <a:p>
            <a:pPr marL="0" indent="0">
              <a:buNone/>
            </a:pPr>
            <a:r>
              <a:rPr lang="en-US" dirty="0" err="1" smtClean="0"/>
              <a:t>IRISSeismic</a:t>
            </a:r>
            <a:r>
              <a:rPr lang="en-US" dirty="0" smtClean="0"/>
              <a:t> (R): </a:t>
            </a:r>
            <a:r>
              <a:rPr lang="en-US" dirty="0" smtClean="0">
                <a:hlinkClick r:id="rId5"/>
              </a:rPr>
              <a:t>http://search.r-project.org/library/IRISSeismic/html/STALTA.html</a:t>
            </a:r>
            <a:endParaRPr lang="en-US" dirty="0" smtClean="0"/>
          </a:p>
        </p:txBody>
      </p:sp>
    </p:spTree>
    <p:extLst>
      <p:ext uri="{BB962C8B-B14F-4D97-AF65-F5344CB8AC3E}">
        <p14:creationId xmlns:p14="http://schemas.microsoft.com/office/powerpoint/2010/main" val="1743923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ObsPy</a:t>
            </a:r>
            <a:endParaRPr lang="en-US" dirty="0"/>
          </a:p>
        </p:txBody>
      </p:sp>
      <p:sp>
        <p:nvSpPr>
          <p:cNvPr id="3" name="Content Placeholder 2"/>
          <p:cNvSpPr>
            <a:spLocks noGrp="1"/>
          </p:cNvSpPr>
          <p:nvPr>
            <p:ph idx="1"/>
          </p:nvPr>
        </p:nvSpPr>
        <p:spPr>
          <a:xfrm>
            <a:off x="0" y="6382904"/>
            <a:ext cx="10515600" cy="1263939"/>
          </a:xfrm>
        </p:spPr>
        <p:txBody>
          <a:bodyPr/>
          <a:lstStyle/>
          <a:p>
            <a:pPr marL="0" indent="0">
              <a:buNone/>
            </a:pPr>
            <a:r>
              <a:rPr lang="en-US" dirty="0">
                <a:hlinkClick r:id="rId2"/>
              </a:rPr>
              <a:t>https://docs.obspy.org/tutorial/code_snippets/trigger_tutorial.html</a:t>
            </a:r>
            <a:endParaRPr lang="en-US" dirty="0"/>
          </a:p>
          <a:p>
            <a:pPr marL="0" indent="0">
              <a:buNone/>
            </a:pPr>
            <a:endParaRPr lang="en-US" dirty="0"/>
          </a:p>
        </p:txBody>
      </p:sp>
      <p:pic>
        <p:nvPicPr>
          <p:cNvPr id="4" name="Picture 3"/>
          <p:cNvPicPr>
            <a:picLocks noChangeAspect="1"/>
          </p:cNvPicPr>
          <p:nvPr/>
        </p:nvPicPr>
        <p:blipFill>
          <a:blip r:embed="rId3"/>
          <a:stretch>
            <a:fillRect/>
          </a:stretch>
        </p:blipFill>
        <p:spPr>
          <a:xfrm>
            <a:off x="6026726" y="110836"/>
            <a:ext cx="6021185" cy="6272068"/>
          </a:xfrm>
          <a:prstGeom prst="rect">
            <a:avLst/>
          </a:prstGeom>
        </p:spPr>
      </p:pic>
      <p:pic>
        <p:nvPicPr>
          <p:cNvPr id="5" name="Picture 4"/>
          <p:cNvPicPr>
            <a:picLocks noChangeAspect="1"/>
          </p:cNvPicPr>
          <p:nvPr/>
        </p:nvPicPr>
        <p:blipFill>
          <a:blip r:embed="rId4"/>
          <a:stretch>
            <a:fillRect/>
          </a:stretch>
        </p:blipFill>
        <p:spPr>
          <a:xfrm>
            <a:off x="139123" y="2122920"/>
            <a:ext cx="6261100" cy="2247900"/>
          </a:xfrm>
          <a:prstGeom prst="rect">
            <a:avLst/>
          </a:prstGeom>
        </p:spPr>
      </p:pic>
    </p:spTree>
    <p:extLst>
      <p:ext uri="{BB962C8B-B14F-4D97-AF65-F5344CB8AC3E}">
        <p14:creationId xmlns:p14="http://schemas.microsoft.com/office/powerpoint/2010/main" val="1014917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4024745" cy="4351338"/>
          </a:xfrm>
        </p:spPr>
        <p:txBody>
          <a:bodyPr/>
          <a:lstStyle/>
          <a:p>
            <a:pPr marL="0" indent="0">
              <a:buNone/>
            </a:pPr>
            <a:r>
              <a:rPr lang="en-US" dirty="0" smtClean="0"/>
              <a:t>Information about different methods</a:t>
            </a:r>
            <a:endParaRPr lang="en-US" dirty="0"/>
          </a:p>
        </p:txBody>
      </p:sp>
      <p:pic>
        <p:nvPicPr>
          <p:cNvPr id="4" name="Picture 3"/>
          <p:cNvPicPr>
            <a:picLocks noChangeAspect="1"/>
          </p:cNvPicPr>
          <p:nvPr/>
        </p:nvPicPr>
        <p:blipFill>
          <a:blip r:embed="rId2"/>
          <a:stretch>
            <a:fillRect/>
          </a:stretch>
        </p:blipFill>
        <p:spPr>
          <a:xfrm>
            <a:off x="4979785" y="0"/>
            <a:ext cx="7212215" cy="6858000"/>
          </a:xfrm>
          <a:prstGeom prst="rect">
            <a:avLst/>
          </a:prstGeom>
        </p:spPr>
      </p:pic>
    </p:spTree>
    <p:extLst>
      <p:ext uri="{BB962C8B-B14F-4D97-AF65-F5344CB8AC3E}">
        <p14:creationId xmlns:p14="http://schemas.microsoft.com/office/powerpoint/2010/main" val="161135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4273" y="297440"/>
            <a:ext cx="10515600" cy="1325563"/>
          </a:xfrm>
        </p:spPr>
        <p:txBody>
          <a:bodyPr/>
          <a:lstStyle/>
          <a:p>
            <a:r>
              <a:rPr lang="en-US" dirty="0" smtClean="0"/>
              <a:t>Earthworm </a:t>
            </a:r>
            <a:r>
              <a:rPr lang="en-US" dirty="0" err="1" smtClean="0"/>
              <a:t>carlstatrig</a:t>
            </a:r>
            <a:endParaRPr lang="en-US" dirty="0"/>
          </a:p>
        </p:txBody>
      </p:sp>
      <p:pic>
        <p:nvPicPr>
          <p:cNvPr id="5" name="Picture 4"/>
          <p:cNvPicPr>
            <a:picLocks noChangeAspect="1"/>
          </p:cNvPicPr>
          <p:nvPr/>
        </p:nvPicPr>
        <p:blipFill>
          <a:blip r:embed="rId2"/>
          <a:stretch>
            <a:fillRect/>
          </a:stretch>
        </p:blipFill>
        <p:spPr>
          <a:xfrm>
            <a:off x="0" y="306388"/>
            <a:ext cx="1803400" cy="1384300"/>
          </a:xfrm>
          <a:prstGeom prst="rect">
            <a:avLst/>
          </a:prstGeom>
        </p:spPr>
      </p:pic>
      <p:pic>
        <p:nvPicPr>
          <p:cNvPr id="6" name="Picture 5"/>
          <p:cNvPicPr>
            <a:picLocks noChangeAspect="1"/>
          </p:cNvPicPr>
          <p:nvPr/>
        </p:nvPicPr>
        <p:blipFill>
          <a:blip r:embed="rId3"/>
          <a:stretch>
            <a:fillRect/>
          </a:stretch>
        </p:blipFill>
        <p:spPr>
          <a:xfrm>
            <a:off x="1974273" y="1446646"/>
            <a:ext cx="9080500" cy="889000"/>
          </a:xfrm>
          <a:prstGeom prst="rect">
            <a:avLst/>
          </a:prstGeom>
        </p:spPr>
      </p:pic>
      <p:pic>
        <p:nvPicPr>
          <p:cNvPr id="7" name="Picture 6"/>
          <p:cNvPicPr>
            <a:picLocks noChangeAspect="1"/>
          </p:cNvPicPr>
          <p:nvPr/>
        </p:nvPicPr>
        <p:blipFill>
          <a:blip r:embed="rId4"/>
          <a:stretch>
            <a:fillRect/>
          </a:stretch>
        </p:blipFill>
        <p:spPr>
          <a:xfrm>
            <a:off x="0" y="2434927"/>
            <a:ext cx="12192000" cy="966510"/>
          </a:xfrm>
          <a:prstGeom prst="rect">
            <a:avLst/>
          </a:prstGeom>
        </p:spPr>
      </p:pic>
      <p:pic>
        <p:nvPicPr>
          <p:cNvPr id="8" name="Picture 7"/>
          <p:cNvPicPr>
            <a:picLocks noChangeAspect="1"/>
          </p:cNvPicPr>
          <p:nvPr/>
        </p:nvPicPr>
        <p:blipFill>
          <a:blip r:embed="rId5"/>
          <a:stretch>
            <a:fillRect/>
          </a:stretch>
        </p:blipFill>
        <p:spPr>
          <a:xfrm>
            <a:off x="247653" y="3500718"/>
            <a:ext cx="4057647" cy="491836"/>
          </a:xfrm>
          <a:prstGeom prst="rect">
            <a:avLst/>
          </a:prstGeom>
        </p:spPr>
      </p:pic>
      <p:pic>
        <p:nvPicPr>
          <p:cNvPr id="9" name="Picture 8"/>
          <p:cNvPicPr>
            <a:picLocks noChangeAspect="1"/>
          </p:cNvPicPr>
          <p:nvPr/>
        </p:nvPicPr>
        <p:blipFill>
          <a:blip r:embed="rId6"/>
          <a:stretch>
            <a:fillRect/>
          </a:stretch>
        </p:blipFill>
        <p:spPr>
          <a:xfrm>
            <a:off x="3301423" y="4007348"/>
            <a:ext cx="5118100" cy="292100"/>
          </a:xfrm>
          <a:prstGeom prst="rect">
            <a:avLst/>
          </a:prstGeom>
        </p:spPr>
      </p:pic>
      <p:pic>
        <p:nvPicPr>
          <p:cNvPr id="10" name="Picture 9"/>
          <p:cNvPicPr>
            <a:picLocks noChangeAspect="1"/>
          </p:cNvPicPr>
          <p:nvPr/>
        </p:nvPicPr>
        <p:blipFill>
          <a:blip r:embed="rId7"/>
          <a:stretch>
            <a:fillRect/>
          </a:stretch>
        </p:blipFill>
        <p:spPr>
          <a:xfrm>
            <a:off x="1803400" y="4457123"/>
            <a:ext cx="8432800" cy="215900"/>
          </a:xfrm>
          <a:prstGeom prst="rect">
            <a:avLst/>
          </a:prstGeom>
        </p:spPr>
      </p:pic>
      <p:sp>
        <p:nvSpPr>
          <p:cNvPr id="11" name="TextBox 10"/>
          <p:cNvSpPr txBox="1"/>
          <p:nvPr/>
        </p:nvSpPr>
        <p:spPr>
          <a:xfrm>
            <a:off x="443345" y="5098473"/>
            <a:ext cx="10432473" cy="369332"/>
          </a:xfrm>
          <a:prstGeom prst="rect">
            <a:avLst/>
          </a:prstGeom>
          <a:noFill/>
        </p:spPr>
        <p:txBody>
          <a:bodyPr wrap="square" rtlCol="0">
            <a:spAutoFit/>
          </a:bodyPr>
          <a:lstStyle/>
          <a:p>
            <a:r>
              <a:rPr lang="en-US" dirty="0" smtClean="0"/>
              <a:t>Very hard to play archived data into Earthworm, so how do you tune parameters?</a:t>
            </a:r>
            <a:endParaRPr lang="en-US" dirty="0"/>
          </a:p>
        </p:txBody>
      </p:sp>
    </p:spTree>
    <p:extLst>
      <p:ext uri="{BB962C8B-B14F-4D97-AF65-F5344CB8AC3E}">
        <p14:creationId xmlns:p14="http://schemas.microsoft.com/office/powerpoint/2010/main" val="932065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181" y="240434"/>
            <a:ext cx="10515600" cy="1325563"/>
          </a:xfrm>
        </p:spPr>
        <p:txBody>
          <a:bodyPr/>
          <a:lstStyle/>
          <a:p>
            <a:r>
              <a:rPr lang="en-US" dirty="0" err="1" smtClean="0"/>
              <a:t>ObsPy</a:t>
            </a:r>
            <a:r>
              <a:rPr lang="en-US" dirty="0" smtClean="0"/>
              <a:t> implements </a:t>
            </a:r>
            <a:br>
              <a:rPr lang="en-US" dirty="0" smtClean="0"/>
            </a:br>
            <a:r>
              <a:rPr lang="en-US" dirty="0" err="1" smtClean="0"/>
              <a:t>carl_sta_trig</a:t>
            </a:r>
            <a:endParaRPr lang="en-US" dirty="0"/>
          </a:p>
        </p:txBody>
      </p:sp>
      <p:pic>
        <p:nvPicPr>
          <p:cNvPr id="4" name="Picture 3"/>
          <p:cNvPicPr>
            <a:picLocks noChangeAspect="1"/>
          </p:cNvPicPr>
          <p:nvPr/>
        </p:nvPicPr>
        <p:blipFill>
          <a:blip r:embed="rId2"/>
          <a:stretch>
            <a:fillRect/>
          </a:stretch>
        </p:blipFill>
        <p:spPr>
          <a:xfrm>
            <a:off x="5638354" y="365125"/>
            <a:ext cx="6074163" cy="6151418"/>
          </a:xfrm>
          <a:prstGeom prst="rect">
            <a:avLst/>
          </a:prstGeom>
        </p:spPr>
      </p:pic>
    </p:spTree>
    <p:extLst>
      <p:ext uri="{BB962C8B-B14F-4D97-AF65-F5344CB8AC3E}">
        <p14:creationId xmlns:p14="http://schemas.microsoft.com/office/powerpoint/2010/main" val="624622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Antelope</a:t>
            </a:r>
            <a:endParaRPr lang="en-US" dirty="0"/>
          </a:p>
        </p:txBody>
      </p:sp>
      <p:pic>
        <p:nvPicPr>
          <p:cNvPr id="4" name="Picture 3"/>
          <p:cNvPicPr>
            <a:picLocks noChangeAspect="1"/>
          </p:cNvPicPr>
          <p:nvPr/>
        </p:nvPicPr>
        <p:blipFill>
          <a:blip r:embed="rId2"/>
          <a:stretch>
            <a:fillRect/>
          </a:stretch>
        </p:blipFill>
        <p:spPr>
          <a:xfrm>
            <a:off x="3519054" y="1730608"/>
            <a:ext cx="7779717" cy="5127392"/>
          </a:xfrm>
          <a:prstGeom prst="rect">
            <a:avLst/>
          </a:prstGeom>
        </p:spPr>
      </p:pic>
      <p:sp>
        <p:nvSpPr>
          <p:cNvPr id="3" name="Rectangle 2"/>
          <p:cNvSpPr/>
          <p:nvPr/>
        </p:nvSpPr>
        <p:spPr>
          <a:xfrm>
            <a:off x="838200" y="1361276"/>
            <a:ext cx="7910945" cy="369332"/>
          </a:xfrm>
          <a:prstGeom prst="rect">
            <a:avLst/>
          </a:prstGeom>
        </p:spPr>
        <p:txBody>
          <a:bodyPr wrap="square">
            <a:spAutoFit/>
          </a:bodyPr>
          <a:lstStyle/>
          <a:p>
            <a:r>
              <a:rPr lang="en-US" dirty="0">
                <a:hlinkClick r:id="rId3"/>
              </a:rPr>
              <a:t>https://</a:t>
            </a:r>
            <a:r>
              <a:rPr lang="en-US" dirty="0" err="1">
                <a:hlinkClick r:id="rId3"/>
              </a:rPr>
              <a:t>usflearn.instructure.com</a:t>
            </a:r>
            <a:r>
              <a:rPr lang="en-US" dirty="0">
                <a:hlinkClick r:id="rId3"/>
              </a:rPr>
              <a:t>/courses/1164049/modules/items/9471939</a:t>
            </a:r>
            <a:endParaRPr lang="en-US" dirty="0"/>
          </a:p>
        </p:txBody>
      </p:sp>
      <p:sp>
        <p:nvSpPr>
          <p:cNvPr id="5" name="TextBox 4"/>
          <p:cNvSpPr txBox="1"/>
          <p:nvPr/>
        </p:nvSpPr>
        <p:spPr>
          <a:xfrm>
            <a:off x="484909" y="3366655"/>
            <a:ext cx="2466109" cy="2585323"/>
          </a:xfrm>
          <a:prstGeom prst="rect">
            <a:avLst/>
          </a:prstGeom>
          <a:noFill/>
        </p:spPr>
        <p:txBody>
          <a:bodyPr wrap="square" rtlCol="0">
            <a:spAutoFit/>
          </a:bodyPr>
          <a:lstStyle/>
          <a:p>
            <a:r>
              <a:rPr lang="en-US" dirty="0" err="1"/>
              <a:t>o</a:t>
            </a:r>
            <a:r>
              <a:rPr lang="en-US" dirty="0" err="1" smtClean="0"/>
              <a:t>rbdetect</a:t>
            </a:r>
            <a:r>
              <a:rPr lang="en-US" dirty="0" smtClean="0"/>
              <a:t>/</a:t>
            </a:r>
            <a:r>
              <a:rPr lang="en-US" dirty="0" err="1" smtClean="0"/>
              <a:t>dbdetect</a:t>
            </a:r>
            <a:r>
              <a:rPr lang="en-US" dirty="0" smtClean="0"/>
              <a:t> are black boxes --&gt; cannot see or simulate code.</a:t>
            </a:r>
          </a:p>
          <a:p>
            <a:endParaRPr lang="en-US" dirty="0"/>
          </a:p>
          <a:p>
            <a:r>
              <a:rPr lang="en-US" dirty="0" smtClean="0"/>
              <a:t>Have to just run it many times and compare results.</a:t>
            </a:r>
          </a:p>
          <a:p>
            <a:endParaRPr lang="en-US" dirty="0"/>
          </a:p>
          <a:p>
            <a:endParaRPr lang="en-US" dirty="0" smtClean="0"/>
          </a:p>
        </p:txBody>
      </p:sp>
    </p:spTree>
    <p:extLst>
      <p:ext uri="{BB962C8B-B14F-4D97-AF65-F5344CB8AC3E}">
        <p14:creationId xmlns:p14="http://schemas.microsoft.com/office/powerpoint/2010/main" val="598612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ObsPy</a:t>
            </a:r>
            <a:r>
              <a:rPr lang="en-US" dirty="0" smtClean="0"/>
              <a:t> tutorial</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56430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GISMO tutorial</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994144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92322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535375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25627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857750" y="488950"/>
            <a:ext cx="2476500" cy="5880100"/>
          </a:xfrm>
          <a:prstGeom prst="rect">
            <a:avLst/>
          </a:prstGeom>
        </p:spPr>
      </p:pic>
    </p:spTree>
    <p:extLst>
      <p:ext uri="{BB962C8B-B14F-4D97-AF65-F5344CB8AC3E}">
        <p14:creationId xmlns:p14="http://schemas.microsoft.com/office/powerpoint/2010/main" val="865033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9344" y="819006"/>
            <a:ext cx="10515600" cy="5355312"/>
          </a:xfrm>
          <a:prstGeom prst="rect">
            <a:avLst/>
          </a:prstGeom>
        </p:spPr>
        <p:txBody>
          <a:bodyPr wrap="square">
            <a:spAutoFit/>
          </a:bodyPr>
          <a:lstStyle/>
          <a:p>
            <a:r>
              <a:rPr lang="en-US" b="1" dirty="0" smtClean="0">
                <a:solidFill>
                  <a:srgbClr val="333333"/>
                </a:solidFill>
                <a:latin typeface="Helvetica Neue" charset="0"/>
              </a:rPr>
              <a:t>Simplest method: Amplitude-duration algorithm</a:t>
            </a:r>
          </a:p>
          <a:p>
            <a:pPr marL="285750" indent="-285750">
              <a:buFont typeface="Arial" charset="0"/>
              <a:buChar char="•"/>
            </a:pPr>
            <a:r>
              <a:rPr lang="en-US" dirty="0" smtClean="0">
                <a:solidFill>
                  <a:srgbClr val="333333"/>
                </a:solidFill>
                <a:latin typeface="Helvetica Neue" charset="0"/>
              </a:rPr>
              <a:t>The signal has to exceed an amplitude threshold, </a:t>
            </a:r>
            <a:r>
              <a:rPr lang="en-US" i="1" dirty="0" err="1" smtClean="0">
                <a:solidFill>
                  <a:srgbClr val="333333"/>
                </a:solidFill>
                <a:latin typeface="Helvetica Neue" charset="0"/>
              </a:rPr>
              <a:t>thresh_a</a:t>
            </a:r>
            <a:r>
              <a:rPr lang="en-US" dirty="0" smtClean="0">
                <a:solidFill>
                  <a:srgbClr val="333333"/>
                </a:solidFill>
                <a:latin typeface="Helvetica Neue" charset="0"/>
              </a:rPr>
              <a:t>, for at least time, </a:t>
            </a:r>
            <a:r>
              <a:rPr lang="en-US" i="1" dirty="0" err="1" smtClean="0">
                <a:solidFill>
                  <a:srgbClr val="333333"/>
                </a:solidFill>
                <a:latin typeface="Helvetica Neue" charset="0"/>
              </a:rPr>
              <a:t>thresh_t</a:t>
            </a:r>
            <a:r>
              <a:rPr lang="en-US" dirty="0" smtClean="0">
                <a:solidFill>
                  <a:srgbClr val="333333"/>
                </a:solidFill>
                <a:latin typeface="Helvetica Neue" charset="0"/>
              </a:rPr>
              <a:t>.</a:t>
            </a:r>
          </a:p>
          <a:p>
            <a:pPr marL="285750" indent="-285750">
              <a:buFont typeface="Arial" charset="0"/>
              <a:buChar char="•"/>
            </a:pPr>
            <a:r>
              <a:rPr lang="en-US" dirty="0" smtClean="0">
                <a:solidFill>
                  <a:srgbClr val="333333"/>
                </a:solidFill>
                <a:latin typeface="Helvetica Neue" charset="0"/>
              </a:rPr>
              <a:t>Exercise:</a:t>
            </a:r>
          </a:p>
          <a:p>
            <a:pPr marL="742950" lvl="1" indent="-285750">
              <a:buFont typeface="Arial" charset="0"/>
              <a:buChar char="•"/>
            </a:pPr>
            <a:r>
              <a:rPr lang="en-US" dirty="0" smtClean="0">
                <a:solidFill>
                  <a:srgbClr val="333333"/>
                </a:solidFill>
                <a:latin typeface="Helvetica Neue" charset="0"/>
              </a:rPr>
              <a:t>Code this in MATLAB* now by filling in this </a:t>
            </a:r>
            <a:r>
              <a:rPr lang="en-US" smtClean="0">
                <a:solidFill>
                  <a:srgbClr val="333333"/>
                </a:solidFill>
                <a:latin typeface="Helvetica Neue" charset="0"/>
              </a:rPr>
              <a:t>template: </a:t>
            </a:r>
            <a:endParaRPr lang="en-US" dirty="0" smtClean="0">
              <a:solidFill>
                <a:srgbClr val="333333"/>
              </a:solidFill>
              <a:latin typeface="Helvetica Neue" charset="0"/>
            </a:endParaRPr>
          </a:p>
          <a:p>
            <a:pPr marL="742950" lvl="1" indent="-285750">
              <a:buFont typeface="Arial" charset="0"/>
              <a:buChar char="•"/>
            </a:pPr>
            <a:r>
              <a:rPr lang="en-US" dirty="0" smtClean="0">
                <a:solidFill>
                  <a:srgbClr val="333333"/>
                </a:solidFill>
                <a:latin typeface="Helvetica Neue" charset="0"/>
              </a:rPr>
              <a:t>Use this data file: </a:t>
            </a:r>
          </a:p>
          <a:p>
            <a:pPr marL="742950" lvl="1" indent="-285750">
              <a:buFont typeface="Arial" charset="0"/>
              <a:buChar char="•"/>
            </a:pPr>
            <a:r>
              <a:rPr lang="en-US" dirty="0" smtClean="0">
                <a:solidFill>
                  <a:srgbClr val="333333"/>
                </a:solidFill>
                <a:latin typeface="Helvetica Neue" charset="0"/>
              </a:rPr>
              <a:t>Choose suitable </a:t>
            </a:r>
            <a:r>
              <a:rPr lang="en-US" i="1" dirty="0" err="1" smtClean="0">
                <a:solidFill>
                  <a:srgbClr val="333333"/>
                </a:solidFill>
                <a:latin typeface="Helvetica Neue" charset="0"/>
              </a:rPr>
              <a:t>thresh_a</a:t>
            </a:r>
            <a:r>
              <a:rPr lang="en-US" dirty="0" smtClean="0">
                <a:solidFill>
                  <a:srgbClr val="333333"/>
                </a:solidFill>
                <a:latin typeface="Helvetica Neue" charset="0"/>
              </a:rPr>
              <a:t> and </a:t>
            </a:r>
            <a:r>
              <a:rPr lang="en-US" i="1" dirty="0" err="1" smtClean="0">
                <a:solidFill>
                  <a:srgbClr val="333333"/>
                </a:solidFill>
                <a:latin typeface="Helvetica Neue" charset="0"/>
              </a:rPr>
              <a:t>thresh_t</a:t>
            </a:r>
            <a:r>
              <a:rPr lang="en-US" i="1" dirty="0" smtClean="0">
                <a:solidFill>
                  <a:srgbClr val="333333"/>
                </a:solidFill>
                <a:latin typeface="Helvetica Neue" charset="0"/>
              </a:rPr>
              <a:t> </a:t>
            </a:r>
            <a:r>
              <a:rPr lang="en-US" dirty="0" smtClean="0">
                <a:solidFill>
                  <a:srgbClr val="333333"/>
                </a:solidFill>
                <a:latin typeface="Helvetica Neue" charset="0"/>
              </a:rPr>
              <a:t>parameters to capture the two largest events only.</a:t>
            </a:r>
          </a:p>
          <a:p>
            <a:pPr marL="742950" lvl="1" indent="-285750">
              <a:buFont typeface="Arial" charset="0"/>
              <a:buChar char="•"/>
            </a:pPr>
            <a:r>
              <a:rPr lang="en-US" dirty="0" smtClean="0">
                <a:solidFill>
                  <a:srgbClr val="333333"/>
                </a:solidFill>
                <a:latin typeface="Helvetica Neue" charset="0"/>
              </a:rPr>
              <a:t>Email me your answer.</a:t>
            </a:r>
            <a:endParaRPr lang="en-US" dirty="0">
              <a:solidFill>
                <a:srgbClr val="333333"/>
              </a:solidFill>
              <a:latin typeface="Helvetica Neue" charset="0"/>
            </a:endParaRPr>
          </a:p>
          <a:p>
            <a:endParaRPr lang="en-US" dirty="0" smtClean="0">
              <a:solidFill>
                <a:srgbClr val="333333"/>
              </a:solidFill>
              <a:latin typeface="Helvetica Neue" charset="0"/>
            </a:endParaRPr>
          </a:p>
          <a:p>
            <a:endParaRPr lang="en-US" dirty="0">
              <a:solidFill>
                <a:srgbClr val="333333"/>
              </a:solidFill>
              <a:latin typeface="Helvetica Neue" charset="0"/>
            </a:endParaRPr>
          </a:p>
          <a:p>
            <a:r>
              <a:rPr lang="en-US" dirty="0" smtClean="0">
                <a:solidFill>
                  <a:srgbClr val="333333"/>
                </a:solidFill>
                <a:latin typeface="Helvetica Neue" charset="0"/>
              </a:rPr>
              <a:t>What are the pros of this method?</a:t>
            </a:r>
          </a:p>
          <a:p>
            <a:endParaRPr lang="en-US" dirty="0">
              <a:solidFill>
                <a:srgbClr val="333333"/>
              </a:solidFill>
              <a:latin typeface="Helvetica Neue" charset="0"/>
            </a:endParaRPr>
          </a:p>
          <a:p>
            <a:endParaRPr lang="en-US" dirty="0" smtClean="0">
              <a:solidFill>
                <a:srgbClr val="333333"/>
              </a:solidFill>
              <a:latin typeface="Helvetica Neue" charset="0"/>
            </a:endParaRPr>
          </a:p>
          <a:p>
            <a:endParaRPr lang="en-US" dirty="0">
              <a:solidFill>
                <a:srgbClr val="333333"/>
              </a:solidFill>
              <a:latin typeface="Helvetica Neue" charset="0"/>
            </a:endParaRPr>
          </a:p>
          <a:p>
            <a:r>
              <a:rPr lang="en-US" dirty="0" smtClean="0">
                <a:solidFill>
                  <a:srgbClr val="333333"/>
                </a:solidFill>
                <a:latin typeface="Helvetica Neue" charset="0"/>
              </a:rPr>
              <a:t>What are the cons?</a:t>
            </a:r>
          </a:p>
          <a:p>
            <a:endParaRPr lang="en-US" b="0" i="0" dirty="0">
              <a:solidFill>
                <a:srgbClr val="333333"/>
              </a:solidFill>
              <a:effectLst/>
              <a:latin typeface="Helvetica Neue" charset="0"/>
            </a:endParaRPr>
          </a:p>
          <a:p>
            <a:endParaRPr lang="en-US" dirty="0" smtClean="0">
              <a:solidFill>
                <a:srgbClr val="333333"/>
              </a:solidFill>
              <a:latin typeface="Helvetica Neue" charset="0"/>
            </a:endParaRPr>
          </a:p>
          <a:p>
            <a:endParaRPr lang="en-US" b="0" i="0" dirty="0">
              <a:solidFill>
                <a:srgbClr val="333333"/>
              </a:solidFill>
              <a:effectLst/>
              <a:latin typeface="Helvetica Neue" charset="0"/>
            </a:endParaRPr>
          </a:p>
          <a:p>
            <a:endParaRPr lang="en-US" dirty="0" smtClean="0">
              <a:solidFill>
                <a:srgbClr val="333333"/>
              </a:solidFill>
              <a:latin typeface="Helvetica Neue" charset="0"/>
            </a:endParaRPr>
          </a:p>
          <a:p>
            <a:r>
              <a:rPr lang="en-US" b="0" i="0" dirty="0" smtClean="0">
                <a:solidFill>
                  <a:srgbClr val="333333"/>
                </a:solidFill>
                <a:effectLst/>
                <a:latin typeface="Helvetica Neue" charset="0"/>
              </a:rPr>
              <a:t>* If this were really 1981 you’d be coding in Fortran77 if you were lucky, maybe assembly language.</a:t>
            </a:r>
            <a:endParaRPr lang="en-US" b="0" i="0" dirty="0">
              <a:solidFill>
                <a:srgbClr val="333333"/>
              </a:solidFill>
              <a:effectLst/>
              <a:latin typeface="Helvetica Neue" charset="0"/>
            </a:endParaRPr>
          </a:p>
        </p:txBody>
      </p:sp>
    </p:spTree>
    <p:extLst>
      <p:ext uri="{BB962C8B-B14F-4D97-AF65-F5344CB8AC3E}">
        <p14:creationId xmlns:p14="http://schemas.microsoft.com/office/powerpoint/2010/main" val="850352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480</TotalTime>
  <Words>769</Words>
  <Application>Microsoft Macintosh PowerPoint</Application>
  <PresentationFormat>Widescreen</PresentationFormat>
  <Paragraphs>150</Paragraphs>
  <Slides>28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Calibri</vt:lpstr>
      <vt:lpstr>Calibri Light</vt:lpstr>
      <vt:lpstr>Courier New</vt:lpstr>
      <vt:lpstr>Helvetica Neue</vt:lpstr>
      <vt:lpstr>Symbol</vt:lpstr>
      <vt:lpstr>Times New Roman</vt:lpstr>
      <vt:lpstr>Wingdings</vt:lpstr>
      <vt:lpstr>Arial</vt:lpstr>
      <vt:lpstr>Office Theme</vt:lpstr>
      <vt:lpstr>Some applications of DSP in Seismic Monitoring</vt:lpstr>
      <vt:lpstr>PowerPoint Presentation</vt:lpstr>
      <vt:lpstr>PowerPoint Presentation</vt:lpstr>
      <vt:lpstr>Event detection &amp; location – 2 steps</vt:lpstr>
      <vt:lpstr>Detecting events</vt:lpstr>
      <vt:lpstr>Detecting P &amp; S phase arrivals</vt:lpstr>
      <vt:lpstr>PowerPoint Presentation</vt:lpstr>
      <vt:lpstr>PowerPoint Presentation</vt:lpstr>
      <vt:lpstr>STA/LTA</vt:lpstr>
      <vt:lpstr>STA/LTA</vt:lpstr>
      <vt:lpstr>PowerPoint Presentation</vt:lpstr>
      <vt:lpstr>PowerPoint Presentation</vt:lpstr>
      <vt:lpstr>PowerPoint Presentation</vt:lpstr>
      <vt:lpstr>PowerPoint Presentation</vt:lpstr>
      <vt:lpstr>PowerPoint Presentation</vt:lpstr>
      <vt:lpstr>STA/LTA in software packages</vt:lpstr>
      <vt:lpstr>ObsPy</vt:lpstr>
      <vt:lpstr>PowerPoint Presentation</vt:lpstr>
      <vt:lpstr>Earthworm carlstatrig</vt:lpstr>
      <vt:lpstr>ObsPy implements  carl_sta_trig</vt:lpstr>
      <vt:lpstr>Antelope</vt:lpstr>
      <vt:lpstr>ObsPy tutorial</vt:lpstr>
      <vt:lpstr>GISMO tutorial</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Thompson, Glenn</dc:creator>
  <cp:lastModifiedBy>Thompson, Glenn</cp:lastModifiedBy>
  <cp:revision>27</cp:revision>
  <dcterms:created xsi:type="dcterms:W3CDTF">2016-04-21T18:43:07Z</dcterms:created>
  <dcterms:modified xsi:type="dcterms:W3CDTF">2016-04-22T03:22:19Z</dcterms:modified>
</cp:coreProperties>
</file>