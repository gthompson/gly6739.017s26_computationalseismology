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embeddings/oleObject1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61" r:id="rId2"/>
    <p:sldId id="282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5" r:id="rId11"/>
    <p:sldId id="262" r:id="rId12"/>
    <p:sldId id="283" r:id="rId13"/>
    <p:sldId id="263" r:id="rId14"/>
    <p:sldId id="264" r:id="rId15"/>
    <p:sldId id="265" r:id="rId16"/>
    <p:sldId id="257" r:id="rId17"/>
    <p:sldId id="258" r:id="rId18"/>
    <p:sldId id="259" r:id="rId19"/>
    <p:sldId id="260" r:id="rId20"/>
    <p:sldId id="271" r:id="rId21"/>
    <p:sldId id="266" r:id="rId22"/>
    <p:sldId id="267" r:id="rId23"/>
    <p:sldId id="268" r:id="rId24"/>
    <p:sldId id="269" r:id="rId25"/>
    <p:sldId id="272" r:id="rId26"/>
    <p:sldId id="273" r:id="rId27"/>
    <p:sldId id="274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lenn Thompson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-109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interSettings" Target="printerSettings/printerSettings1.bin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6-02-19T07:45:44.271" idx="1">
    <p:pos x="10" y="10"/>
    <p:text/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6EA05-1A7E-C241-9B9E-1F5244418A71}" type="datetimeFigureOut">
              <a:rPr lang="en-US" smtClean="0"/>
              <a:t>2/19/16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D5760-16A9-224B-8056-0A3602A4E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16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extShape 1"/>
          <p:cNvSpPr txBox="1"/>
          <p:nvPr/>
        </p:nvSpPr>
        <p:spPr>
          <a:xfrm>
            <a:off x="684847" y="4343237"/>
            <a:ext cx="5486718" cy="411512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3279F-C4F4-0F40-BBF2-EB206044D4E9}" type="datetimeFigureOut">
              <a:rPr lang="en-US" smtClean="0"/>
              <a:t>2/19/16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0F806-6E7F-A74F-85E8-CEDFE8D9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21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3279F-C4F4-0F40-BBF2-EB206044D4E9}" type="datetimeFigureOut">
              <a:rPr lang="en-US" smtClean="0"/>
              <a:t>2/19/16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0F806-6E7F-A74F-85E8-CEDFE8D9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92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3279F-C4F4-0F40-BBF2-EB206044D4E9}" type="datetimeFigureOut">
              <a:rPr lang="en-US" smtClean="0"/>
              <a:t>2/19/16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0F806-6E7F-A74F-85E8-CEDFE8D9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7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705524"/>
            <a:ext cx="4495800" cy="54206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727919"/>
            <a:ext cx="4610100" cy="539824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3279F-C4F4-0F40-BBF2-EB206044D4E9}" type="datetimeFigureOut">
              <a:rPr lang="en-US" smtClean="0"/>
              <a:t>2/19/16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0F806-6E7F-A74F-85E8-CEDFE8D9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574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705523"/>
            <a:ext cx="4497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0" y="1345285"/>
            <a:ext cx="4497388" cy="4773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7388" y="705523"/>
            <a:ext cx="464661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7388" y="1345285"/>
            <a:ext cx="4646612" cy="4773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3279F-C4F4-0F40-BBF2-EB206044D4E9}" type="datetimeFigureOut">
              <a:rPr lang="en-US" smtClean="0"/>
              <a:t>2/19/16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0F806-6E7F-A74F-85E8-CEDFE8D9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41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3279F-C4F4-0F40-BBF2-EB206044D4E9}" type="datetimeFigureOut">
              <a:rPr lang="en-US" smtClean="0"/>
              <a:t>2/19/16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0F806-6E7F-A74F-85E8-CEDFE8D9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59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3279F-C4F4-0F40-BBF2-EB206044D4E9}" type="datetimeFigureOut">
              <a:rPr lang="en-US" smtClean="0"/>
              <a:t>2/19/16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0F806-6E7F-A74F-85E8-CEDFE8D9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16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3279F-C4F4-0F40-BBF2-EB206044D4E9}" type="datetimeFigureOut">
              <a:rPr lang="en-US" smtClean="0"/>
              <a:t>2/19/16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0F806-6E7F-A74F-85E8-CEDFE8D9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66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0"/>
            <a:ext cx="8229600" cy="47275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3279F-C4F4-0F40-BBF2-EB206044D4E9}" type="datetimeFigureOut">
              <a:rPr lang="en-US" smtClean="0"/>
              <a:t>2/19/16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0F806-6E7F-A74F-85E8-CEDFE8D9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36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3279F-C4F4-0F40-BBF2-EB206044D4E9}" type="datetimeFigureOut">
              <a:rPr lang="en-US" smtClean="0"/>
              <a:t>2/19/16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0F806-6E7F-A74F-85E8-CEDFE8D9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86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3279F-C4F4-0F40-BBF2-EB206044D4E9}" type="datetimeFigureOut">
              <a:rPr lang="en-US" smtClean="0"/>
              <a:t>2/19/16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0F806-6E7F-A74F-85E8-CEDFE8D9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88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8084"/>
            <a:ext cx="9144000" cy="68743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705524"/>
            <a:ext cx="9144000" cy="5420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TSA &amp; DSP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Lecture 1 - Introduction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0F806-6E7F-A74F-85E8-CEDFE8D90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97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comments" Target="../comments/commen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24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 of last lecture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05524"/>
            <a:ext cx="9144000" cy="615247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We discussed:</a:t>
            </a:r>
          </a:p>
          <a:p>
            <a:r>
              <a:rPr lang="en-US" dirty="0" smtClean="0"/>
              <a:t>Convolution: how to convolve two discrete time series by hand, and using MATLAB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Z-</a:t>
            </a:r>
            <a:r>
              <a:rPr lang="en-US" b="1" dirty="0"/>
              <a:t>T</a:t>
            </a:r>
            <a:r>
              <a:rPr lang="en-US" b="1" dirty="0" smtClean="0"/>
              <a:t>ransform</a:t>
            </a:r>
            <a:r>
              <a:rPr lang="en-US" dirty="0" smtClean="0"/>
              <a:t> is a complex polynomial with coefficients that come from the corresponding discrete time series</a:t>
            </a:r>
          </a:p>
          <a:p>
            <a:r>
              <a:rPr lang="en-US" dirty="0" smtClean="0"/>
              <a:t>Multiplication of Z-Transforms is the equivalent to convolution of discrete time series</a:t>
            </a:r>
          </a:p>
          <a:p>
            <a:r>
              <a:rPr lang="en-US" dirty="0" smtClean="0"/>
              <a:t>Division of Z-Transforms is equivalent to </a:t>
            </a:r>
            <a:r>
              <a:rPr lang="en-US" dirty="0" err="1" smtClean="0"/>
              <a:t>deconvolution</a:t>
            </a:r>
            <a:r>
              <a:rPr lang="en-US" dirty="0" smtClean="0"/>
              <a:t> of discrete time series</a:t>
            </a:r>
          </a:p>
          <a:p>
            <a:r>
              <a:rPr lang="en-US" dirty="0" smtClean="0"/>
              <a:t>A system can be represented by its impulse response function, h[n] – a time series – or equivalently by its transfer function, expressed as the ratio of the Z-Transforms</a:t>
            </a:r>
          </a:p>
          <a:p>
            <a:pPr marL="0" indent="0">
              <a:buNone/>
            </a:pPr>
            <a:r>
              <a:rPr lang="en-US" dirty="0" smtClean="0"/>
              <a:t> 				H(z) = B(z)/A(z)</a:t>
            </a:r>
          </a:p>
          <a:p>
            <a:r>
              <a:rPr lang="en-US" dirty="0" smtClean="0"/>
              <a:t>The roots of B(z) are called the zeros of the transfer function</a:t>
            </a:r>
          </a:p>
          <a:p>
            <a:r>
              <a:rPr lang="en-US" dirty="0" smtClean="0"/>
              <a:t>The roots of A(z) are called the poles of the transfer function</a:t>
            </a:r>
          </a:p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b="1" dirty="0" smtClean="0"/>
              <a:t>Z-</a:t>
            </a:r>
            <a:r>
              <a:rPr lang="en-US" b="1" dirty="0"/>
              <a:t>T</a:t>
            </a:r>
            <a:r>
              <a:rPr lang="en-US" b="1" dirty="0" smtClean="0"/>
              <a:t>ransform </a:t>
            </a:r>
            <a:r>
              <a:rPr lang="en-US" dirty="0" smtClean="0"/>
              <a:t>is the discrete version of the (continuous) Laplace Transform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Discrete Fourier Transform (DFT)  </a:t>
            </a:r>
            <a:r>
              <a:rPr lang="en-US" dirty="0" smtClean="0"/>
              <a:t>is discrete version of the </a:t>
            </a:r>
            <a:r>
              <a:rPr lang="en-US" b="1" dirty="0" smtClean="0"/>
              <a:t>Fourier Transform. </a:t>
            </a:r>
            <a:endParaRPr lang="en-US" b="1" dirty="0"/>
          </a:p>
          <a:p>
            <a:r>
              <a:rPr lang="en-US" dirty="0" smtClean="0"/>
              <a:t>The</a:t>
            </a:r>
            <a:r>
              <a:rPr lang="en-US" b="1" dirty="0" smtClean="0"/>
              <a:t> DFT </a:t>
            </a:r>
            <a:r>
              <a:rPr lang="en-US" dirty="0" smtClean="0"/>
              <a:t>is also a special case of the </a:t>
            </a:r>
            <a:r>
              <a:rPr lang="en-US" b="1" dirty="0" smtClean="0"/>
              <a:t>Z-Transform</a:t>
            </a:r>
            <a:r>
              <a:rPr lang="en-US" dirty="0" smtClean="0"/>
              <a:t>, evaluated around the unit circle.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frequency response </a:t>
            </a:r>
            <a:r>
              <a:rPr lang="en-US" dirty="0" smtClean="0"/>
              <a:t>of the system is the DFT when the input is an impulse. It uniquely describes a system in an equivalent way as does the impulse response in the time domain and the transfer function in the z-domain</a:t>
            </a:r>
          </a:p>
          <a:p>
            <a:r>
              <a:rPr lang="en-US" dirty="0" smtClean="0"/>
              <a:t>We also looked at </a:t>
            </a:r>
            <a:r>
              <a:rPr lang="en-US" dirty="0" err="1" smtClean="0"/>
              <a:t>pzgui</a:t>
            </a:r>
            <a:r>
              <a:rPr lang="en-US" dirty="0" smtClean="0"/>
              <a:t> – a MATLAB graphical user interface that allows us to move poles and zeros and see how this changes the frequency response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48516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Shape 1"/>
          <p:cNvSpPr txBox="1"/>
          <p:nvPr/>
        </p:nvSpPr>
        <p:spPr>
          <a:xfrm>
            <a:off x="0" y="18000"/>
            <a:ext cx="9143640" cy="687240"/>
          </a:xfrm>
          <a:prstGeom prst="rect">
            <a:avLst/>
          </a:prstGeom>
          <a:solidFill>
            <a:srgbClr val="C3D69B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200" strike="noStrike" dirty="0" smtClean="0">
                <a:solidFill>
                  <a:srgbClr val="000000"/>
                </a:solidFill>
                <a:latin typeface="Calibri"/>
              </a:rPr>
              <a:t>Previous lecture  (3 weeks ago!)</a:t>
            </a:r>
            <a:endParaRPr dirty="0"/>
          </a:p>
        </p:txBody>
      </p:sp>
      <p:sp>
        <p:nvSpPr>
          <p:cNvPr id="392" name="TextShape 2"/>
          <p:cNvSpPr txBox="1"/>
          <p:nvPr/>
        </p:nvSpPr>
        <p:spPr>
          <a:xfrm>
            <a:off x="0" y="705600"/>
            <a:ext cx="9143640" cy="54201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strike="noStrike" dirty="0" smtClean="0">
                <a:solidFill>
                  <a:srgbClr val="000000"/>
                </a:solidFill>
                <a:latin typeface="Calibri"/>
              </a:rPr>
              <a:t>Last time we examined </a:t>
            </a:r>
            <a:r>
              <a:rPr lang="en-US" sz="2400" strike="noStrike" dirty="0" smtClean="0">
                <a:solidFill>
                  <a:srgbClr val="000000"/>
                </a:solidFill>
                <a:latin typeface="Calibri"/>
              </a:rPr>
              <a:t>one the </a:t>
            </a:r>
            <a:r>
              <a:rPr lang="en-US" sz="2400" strike="noStrike" dirty="0">
                <a:solidFill>
                  <a:srgbClr val="000000"/>
                </a:solidFill>
                <a:latin typeface="Calibri"/>
              </a:rPr>
              <a:t>two main techniques of signal processing: </a:t>
            </a:r>
            <a:r>
              <a:rPr lang="en-US" sz="2400" strike="noStrike" dirty="0" smtClean="0">
                <a:solidFill>
                  <a:srgbClr val="000000"/>
                </a:solidFill>
                <a:latin typeface="Calibri"/>
              </a:rPr>
              <a:t>convolution. Convolution is the basis of </a:t>
            </a:r>
            <a:r>
              <a:rPr lang="en-US" sz="2400" strike="noStrike" dirty="0" smtClean="0">
                <a:solidFill>
                  <a:srgbClr val="000000"/>
                </a:solidFill>
                <a:latin typeface="Calibri"/>
              </a:rPr>
              <a:t>filtering. The </a:t>
            </a:r>
            <a:r>
              <a:rPr lang="en-US" sz="2400" strike="noStrike" dirty="0" smtClean="0">
                <a:solidFill>
                  <a:srgbClr val="000000"/>
                </a:solidFill>
                <a:latin typeface="Calibri"/>
              </a:rPr>
              <a:t>other main technique in DSP is Fourier </a:t>
            </a:r>
            <a:r>
              <a:rPr lang="en-US" sz="2400" strike="noStrike" dirty="0" smtClean="0">
                <a:solidFill>
                  <a:srgbClr val="000000"/>
                </a:solidFill>
                <a:latin typeface="Calibri"/>
              </a:rPr>
              <a:t>analysis. Both </a:t>
            </a:r>
            <a:r>
              <a:rPr lang="en-US" sz="2400" strike="noStrike" dirty="0">
                <a:solidFill>
                  <a:srgbClr val="000000"/>
                </a:solidFill>
                <a:latin typeface="Calibri"/>
              </a:rPr>
              <a:t>are based on the strategy </a:t>
            </a:r>
            <a:r>
              <a:rPr lang="en-US" sz="2400" strike="noStrike" dirty="0" smtClean="0">
                <a:solidFill>
                  <a:srgbClr val="000000"/>
                </a:solidFill>
                <a:latin typeface="Calibri"/>
              </a:rPr>
              <a:t>presented: </a:t>
            </a:r>
            <a:endParaRPr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strike="noStrike" dirty="0">
                <a:solidFill>
                  <a:srgbClr val="000000"/>
                </a:solidFill>
                <a:latin typeface="Calibri"/>
              </a:rPr>
              <a:t>decompose signals into simple additive components</a:t>
            </a:r>
            <a:endParaRPr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strike="noStrike" dirty="0">
                <a:solidFill>
                  <a:srgbClr val="000000"/>
                </a:solidFill>
                <a:latin typeface="Calibri"/>
              </a:rPr>
              <a:t>process the components in some useful manner</a:t>
            </a:r>
            <a:endParaRPr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strike="noStrike" dirty="0">
                <a:solidFill>
                  <a:srgbClr val="000000"/>
                </a:solidFill>
                <a:latin typeface="Calibri"/>
              </a:rPr>
              <a:t>synthesize the components into a final result. </a:t>
            </a:r>
            <a:endParaRPr dirty="0"/>
          </a:p>
          <a:p>
            <a:endParaRPr dirty="0"/>
          </a:p>
          <a:p>
            <a:pPr>
              <a:lnSpc>
                <a:spcPct val="100000"/>
              </a:lnSpc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3795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Shape 1"/>
          <p:cNvSpPr txBox="1"/>
          <p:nvPr/>
        </p:nvSpPr>
        <p:spPr>
          <a:xfrm>
            <a:off x="165240" y="264240"/>
            <a:ext cx="4231080" cy="2140200"/>
          </a:xfrm>
          <a:prstGeom prst="rect">
            <a:avLst/>
          </a:prstGeom>
          <a:noFill/>
          <a:ln>
            <a:noFill/>
          </a:ln>
        </p:spPr>
        <p:txBody>
          <a:bodyPr lIns="0" tIns="38880" rIns="0" bIns="0" anchor="ctr"/>
          <a:lstStyle/>
          <a:p>
            <a:pPr>
              <a:lnSpc>
                <a:spcPct val="93000"/>
              </a:lnSpc>
            </a:pPr>
            <a:r>
              <a:rPr lang="en-US" sz="100">
                <a:solidFill>
                  <a:srgbClr val="000000"/>
                </a:solidFill>
                <a:latin typeface="Arial"/>
              </a:rPr>
              <a:t>Convolution by hand</a:t>
            </a:r>
            <a:endParaRPr/>
          </a:p>
        </p:txBody>
      </p:sp>
      <p:pic>
        <p:nvPicPr>
          <p:cNvPr id="257" name="Picture 256"/>
          <p:cNvPicPr/>
          <p:nvPr/>
        </p:nvPicPr>
        <p:blipFill>
          <a:blip r:embed="rId3"/>
          <a:stretch/>
        </p:blipFill>
        <p:spPr>
          <a:xfrm rot="5460000">
            <a:off x="3062033" y="1237676"/>
            <a:ext cx="8026088" cy="4613422"/>
          </a:xfrm>
          <a:prstGeom prst="rect">
            <a:avLst/>
          </a:prstGeom>
          <a:ln>
            <a:noFill/>
          </a:ln>
        </p:spPr>
      </p:pic>
      <p:sp>
        <p:nvSpPr>
          <p:cNvPr id="258" name="Line 2"/>
          <p:cNvSpPr/>
          <p:nvPr/>
        </p:nvSpPr>
        <p:spPr>
          <a:xfrm>
            <a:off x="3732480" y="2073600"/>
            <a:ext cx="900000" cy="83520"/>
          </a:xfrm>
          <a:prstGeom prst="line">
            <a:avLst/>
          </a:prstGeom>
          <a:ln w="9360">
            <a:solidFill>
              <a:srgbClr val="000000"/>
            </a:solidFill>
            <a:round/>
            <a:tailEnd type="triangle" w="med" len="med"/>
          </a:ln>
        </p:spPr>
      </p:sp>
      <p:sp>
        <p:nvSpPr>
          <p:cNvPr id="259" name="CustomShape 3"/>
          <p:cNvSpPr/>
          <p:nvPr/>
        </p:nvSpPr>
        <p:spPr>
          <a:xfrm>
            <a:off x="3234240" y="1908000"/>
            <a:ext cx="995040" cy="313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0840" rIns="90000" bIns="45000"/>
          <a:lstStyle/>
          <a:p>
            <a:pPr>
              <a:lnSpc>
                <a:spcPct val="93000"/>
              </a:lnSpc>
            </a:pPr>
            <a:r>
              <a:rPr lang="en-US" sz="1640">
                <a:solidFill>
                  <a:srgbClr val="000000"/>
                </a:solidFill>
                <a:latin typeface="Arial"/>
              </a:rPr>
              <a:t>x[-n]</a:t>
            </a:r>
            <a:endParaRPr/>
          </a:p>
        </p:txBody>
      </p:sp>
      <p:sp>
        <p:nvSpPr>
          <p:cNvPr id="260" name="CustomShape 4"/>
          <p:cNvSpPr/>
          <p:nvPr/>
        </p:nvSpPr>
        <p:spPr>
          <a:xfrm>
            <a:off x="7981920" y="1575360"/>
            <a:ext cx="1160640" cy="314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0840" rIns="90000" bIns="45000"/>
          <a:lstStyle/>
          <a:p>
            <a:pPr>
              <a:lnSpc>
                <a:spcPct val="93000"/>
              </a:lnSpc>
            </a:pPr>
            <a:r>
              <a:rPr lang="en-US" sz="1640">
                <a:solidFill>
                  <a:srgbClr val="000000"/>
                </a:solidFill>
                <a:latin typeface="Arial"/>
              </a:rPr>
              <a:t>h[n]</a:t>
            </a:r>
            <a:endParaRPr/>
          </a:p>
        </p:txBody>
      </p:sp>
      <p:sp>
        <p:nvSpPr>
          <p:cNvPr id="261" name="Line 5"/>
          <p:cNvSpPr/>
          <p:nvPr/>
        </p:nvSpPr>
        <p:spPr>
          <a:xfrm flipH="1">
            <a:off x="7214760" y="1723680"/>
            <a:ext cx="751680" cy="83520"/>
          </a:xfrm>
          <a:prstGeom prst="line">
            <a:avLst/>
          </a:prstGeom>
          <a:ln w="9360">
            <a:solidFill>
              <a:srgbClr val="000000"/>
            </a:solidFill>
            <a:round/>
            <a:tailEnd type="triangle" w="med" len="med"/>
          </a:ln>
        </p:spPr>
      </p:sp>
      <p:sp>
        <p:nvSpPr>
          <p:cNvPr id="262" name="Line 6"/>
          <p:cNvSpPr/>
          <p:nvPr/>
        </p:nvSpPr>
        <p:spPr>
          <a:xfrm>
            <a:off x="8378280" y="2404800"/>
            <a:ext cx="165600" cy="3483360"/>
          </a:xfrm>
          <a:prstGeom prst="line">
            <a:avLst/>
          </a:prstGeom>
          <a:ln w="9360">
            <a:solidFill>
              <a:srgbClr val="000000"/>
            </a:solidFill>
            <a:round/>
            <a:tailEnd type="triangle" w="med" len="med"/>
          </a:ln>
        </p:spPr>
      </p:sp>
      <p:sp>
        <p:nvSpPr>
          <p:cNvPr id="263" name="CustomShape 7"/>
          <p:cNvSpPr/>
          <p:nvPr/>
        </p:nvSpPr>
        <p:spPr>
          <a:xfrm>
            <a:off x="7963560" y="3253320"/>
            <a:ext cx="913320" cy="313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0840" rIns="90000" bIns="45000"/>
          <a:lstStyle/>
          <a:p>
            <a:pPr>
              <a:lnSpc>
                <a:spcPct val="93000"/>
              </a:lnSpc>
            </a:pPr>
            <a:r>
              <a:rPr lang="en-US" sz="1640">
                <a:solidFill>
                  <a:srgbClr val="000000"/>
                </a:solidFill>
                <a:latin typeface="Arial"/>
              </a:rPr>
              <a:t>y[n]</a:t>
            </a:r>
            <a:endParaRPr/>
          </a:p>
        </p:txBody>
      </p:sp>
      <p:sp>
        <p:nvSpPr>
          <p:cNvPr id="264" name="CustomShape 8"/>
          <p:cNvSpPr/>
          <p:nvPr/>
        </p:nvSpPr>
        <p:spPr>
          <a:xfrm>
            <a:off x="497880" y="2653920"/>
            <a:ext cx="3567240" cy="1243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0840" rIns="90000" bIns="45000"/>
          <a:lstStyle/>
          <a:p>
            <a:pPr>
              <a:lnSpc>
                <a:spcPct val="93000"/>
              </a:lnSpc>
            </a:pPr>
            <a:r>
              <a:rPr lang="en-US" sz="1640">
                <a:solidFill>
                  <a:srgbClr val="000000"/>
                </a:solidFill>
                <a:latin typeface="Arial"/>
              </a:rPr>
              <a:t>x[n] = [2 3 -1 7]</a:t>
            </a:r>
            <a:endParaRPr/>
          </a:p>
          <a:p>
            <a:pPr>
              <a:lnSpc>
                <a:spcPct val="93000"/>
              </a:lnSpc>
            </a:pPr>
            <a:r>
              <a:rPr lang="en-US" sz="1640">
                <a:solidFill>
                  <a:srgbClr val="000000"/>
                </a:solidFill>
                <a:latin typeface="Arial"/>
              </a:rPr>
              <a:t>x[-n] = [7 -1 3 2] </a:t>
            </a:r>
            <a:r>
              <a:rPr lang="en-US" sz="1400">
                <a:solidFill>
                  <a:srgbClr val="000000"/>
                </a:solidFill>
                <a:latin typeface="Arial"/>
              </a:rPr>
              <a:t>(n=[-3 -2 -1 0])</a:t>
            </a:r>
            <a:endParaRPr/>
          </a:p>
          <a:p>
            <a:pPr>
              <a:lnSpc>
                <a:spcPct val="93000"/>
              </a:lnSpc>
            </a:pPr>
            <a:r>
              <a:rPr lang="en-US" sz="1640">
                <a:solidFill>
                  <a:srgbClr val="000000"/>
                </a:solidFill>
                <a:latin typeface="Arial"/>
              </a:rPr>
              <a:t>h[n] = [-1 10 4]</a:t>
            </a:r>
            <a:endParaRPr/>
          </a:p>
          <a:p>
            <a:pPr>
              <a:lnSpc>
                <a:spcPct val="93000"/>
              </a:lnSpc>
            </a:pPr>
            <a:endParaRPr/>
          </a:p>
          <a:p>
            <a:pPr>
              <a:lnSpc>
                <a:spcPct val="93000"/>
              </a:lnSpc>
            </a:pPr>
            <a:r>
              <a:rPr lang="en-US" sz="1640">
                <a:solidFill>
                  <a:srgbClr val="000000"/>
                </a:solidFill>
                <a:latin typeface="Arial"/>
              </a:rPr>
              <a:t>y[n] = [-2 17 39 -5 66 28]</a:t>
            </a:r>
            <a:endParaRPr/>
          </a:p>
        </p:txBody>
      </p:sp>
      <p:pic>
        <p:nvPicPr>
          <p:cNvPr id="265" name="Picture 264"/>
          <p:cNvPicPr/>
          <p:nvPr/>
        </p:nvPicPr>
        <p:blipFill>
          <a:blip r:embed="rId4"/>
          <a:stretch/>
        </p:blipFill>
        <p:spPr>
          <a:xfrm>
            <a:off x="579960" y="5315040"/>
            <a:ext cx="3567240" cy="1542240"/>
          </a:xfrm>
          <a:prstGeom prst="rect">
            <a:avLst/>
          </a:prstGeom>
          <a:ln>
            <a:noFill/>
          </a:ln>
        </p:spPr>
      </p:pic>
      <p:sp>
        <p:nvSpPr>
          <p:cNvPr id="266" name="CustomShape 9"/>
          <p:cNvSpPr/>
          <p:nvPr/>
        </p:nvSpPr>
        <p:spPr>
          <a:xfrm>
            <a:off x="414720" y="4893120"/>
            <a:ext cx="2488320" cy="314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0840" rIns="90000" bIns="45000"/>
          <a:lstStyle/>
          <a:p>
            <a:pPr>
              <a:lnSpc>
                <a:spcPct val="93000"/>
              </a:lnSpc>
            </a:pPr>
            <a:r>
              <a:rPr lang="en-US" sz="1640">
                <a:solidFill>
                  <a:srgbClr val="000000"/>
                </a:solidFill>
                <a:latin typeface="Arial"/>
              </a:rPr>
              <a:t>In MATLAB:</a:t>
            </a:r>
            <a:endParaRPr/>
          </a:p>
        </p:txBody>
      </p:sp>
      <p:sp>
        <p:nvSpPr>
          <p:cNvPr id="267" name="Line 10"/>
          <p:cNvSpPr/>
          <p:nvPr/>
        </p:nvSpPr>
        <p:spPr>
          <a:xfrm>
            <a:off x="331200" y="4645800"/>
            <a:ext cx="4063680" cy="108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</p:sp>
    </p:spTree>
    <p:extLst>
      <p:ext uri="{BB962C8B-B14F-4D97-AF65-F5344CB8AC3E}">
        <p14:creationId xmlns:p14="http://schemas.microsoft.com/office/powerpoint/2010/main" val="6967949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0" y="18000"/>
            <a:ext cx="9143640" cy="687240"/>
          </a:xfrm>
          <a:prstGeom prst="rect">
            <a:avLst/>
          </a:prstGeom>
          <a:solidFill>
            <a:srgbClr val="C3D69B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000000"/>
                </a:solidFill>
                <a:latin typeface="Calibri"/>
              </a:rPr>
              <a:t>z</a:t>
            </a:r>
            <a:r>
              <a:rPr lang="en-US" sz="3200" strike="noStrike" dirty="0" smtClean="0">
                <a:solidFill>
                  <a:srgbClr val="000000"/>
                </a:solidFill>
                <a:latin typeface="Calibri"/>
              </a:rPr>
              <a:t>-Transform: time-shifting</a:t>
            </a: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294106" y="909052"/>
            <a:ext cx="6122736" cy="5909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Take a signal:</a:t>
            </a:r>
          </a:p>
          <a:p>
            <a:endParaRPr lang="en-US" dirty="0"/>
          </a:p>
          <a:p>
            <a:pPr lvl="1"/>
            <a:r>
              <a:rPr lang="en-US" i="1" dirty="0"/>
              <a:t>A</a:t>
            </a:r>
            <a:r>
              <a:rPr lang="en-US" dirty="0" smtClean="0"/>
              <a:t>[n] = [a</a:t>
            </a:r>
            <a:r>
              <a:rPr lang="en-US" baseline="-25000" dirty="0" smtClean="0"/>
              <a:t>0</a:t>
            </a:r>
            <a:r>
              <a:rPr lang="en-US" dirty="0" smtClean="0"/>
              <a:t> a</a:t>
            </a:r>
            <a:r>
              <a:rPr lang="en-US" baseline="-25000" dirty="0" smtClean="0"/>
              <a:t>1</a:t>
            </a:r>
            <a:r>
              <a:rPr lang="en-US" dirty="0" smtClean="0"/>
              <a:t> a</a:t>
            </a:r>
            <a:r>
              <a:rPr lang="en-US" baseline="-25000" dirty="0" smtClean="0"/>
              <a:t>2</a:t>
            </a:r>
            <a:r>
              <a:rPr lang="en-US" dirty="0" smtClean="0"/>
              <a:t> … a</a:t>
            </a:r>
            <a:r>
              <a:rPr lang="en-US" baseline="-25000" dirty="0" smtClean="0"/>
              <a:t>N-1</a:t>
            </a:r>
            <a:r>
              <a:rPr lang="en-US" dirty="0" smtClean="0"/>
              <a:t>]</a:t>
            </a:r>
          </a:p>
          <a:p>
            <a:pPr lvl="1"/>
            <a:endParaRPr lang="en-US" dirty="0" smtClean="0"/>
          </a:p>
          <a:p>
            <a:r>
              <a:rPr lang="en-US" u="sng" dirty="0" smtClean="0"/>
              <a:t>The z-transform is the </a:t>
            </a:r>
            <a:r>
              <a:rPr lang="en-US" b="1" u="sng" dirty="0" smtClean="0"/>
              <a:t>polynomial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Multiplying by z is the same as time-shifting by 1 sample: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b</a:t>
            </a:r>
            <a:r>
              <a:rPr lang="en-US" dirty="0" smtClean="0"/>
              <a:t>ecause this is now the signal:</a:t>
            </a:r>
          </a:p>
          <a:p>
            <a:endParaRPr lang="en-US" dirty="0"/>
          </a:p>
          <a:p>
            <a:pPr marL="457200" lvl="2"/>
            <a:r>
              <a:rPr lang="en-US" dirty="0" smtClean="0"/>
              <a:t>[0, a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/>
              <a:t>a</a:t>
            </a:r>
            <a:r>
              <a:rPr lang="en-US" baseline="-25000" dirty="0"/>
              <a:t>1</a:t>
            </a:r>
            <a:r>
              <a:rPr lang="en-US" dirty="0"/>
              <a:t> a</a:t>
            </a:r>
            <a:r>
              <a:rPr lang="en-US" baseline="-25000" dirty="0"/>
              <a:t>2</a:t>
            </a:r>
            <a:r>
              <a:rPr lang="en-US" dirty="0"/>
              <a:t> … a</a:t>
            </a:r>
            <a:r>
              <a:rPr lang="en-US" baseline="-25000" dirty="0"/>
              <a:t>N-1</a:t>
            </a:r>
            <a:r>
              <a:rPr lang="en-US" dirty="0" smtClean="0"/>
              <a:t>]</a:t>
            </a:r>
          </a:p>
          <a:p>
            <a:pPr marL="457200" lvl="2"/>
            <a:endParaRPr lang="en-US" dirty="0"/>
          </a:p>
          <a:p>
            <a:pPr marL="0" lvl="1"/>
            <a:r>
              <a:rPr lang="en-US" dirty="0" smtClean="0"/>
              <a:t>In general, multiplying by </a:t>
            </a:r>
            <a:r>
              <a:rPr lang="en-US" dirty="0" err="1" smtClean="0"/>
              <a:t>z</a:t>
            </a:r>
            <a:r>
              <a:rPr lang="en-US" baseline="30000" dirty="0" err="1" smtClean="0"/>
              <a:t>k</a:t>
            </a:r>
            <a:r>
              <a:rPr lang="en-US" dirty="0" smtClean="0"/>
              <a:t> delays a signal by k-samples.</a:t>
            </a:r>
          </a:p>
          <a:p>
            <a:pPr marL="0" lvl="1"/>
            <a:endParaRPr lang="en-US" dirty="0"/>
          </a:p>
          <a:p>
            <a:pPr marL="0" lvl="1"/>
            <a:r>
              <a:rPr lang="en-US" i="1" dirty="0" smtClean="0"/>
              <a:t>(z is just a symbol that represents a complex number, so a z-transform just means “complex transform”)</a:t>
            </a:r>
            <a:endParaRPr lang="en-US" i="1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64" y="2432377"/>
            <a:ext cx="4559300" cy="50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64" y="3511884"/>
            <a:ext cx="4597400" cy="558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137" y="2241877"/>
            <a:ext cx="1714500" cy="698500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6120063" y="3442034"/>
            <a:ext cx="1760287" cy="698500"/>
            <a:chOff x="6127750" y="3791284"/>
            <a:chExt cx="1760287" cy="69850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73537" y="3791284"/>
              <a:ext cx="1714500" cy="69850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27750" y="3957053"/>
              <a:ext cx="139700" cy="254000"/>
            </a:xfrm>
            <a:prstGeom prst="rect">
              <a:avLst/>
            </a:prstGeom>
          </p:spPr>
        </p:pic>
      </p:grpSp>
      <p:sp>
        <p:nvSpPr>
          <p:cNvPr id="7" name="TextBox 6"/>
          <p:cNvSpPr txBox="1"/>
          <p:nvPr/>
        </p:nvSpPr>
        <p:spPr>
          <a:xfrm>
            <a:off x="7688513" y="3607803"/>
            <a:ext cx="708526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30000" dirty="0" smtClean="0"/>
              <a:t> +1</a:t>
            </a:r>
            <a:endParaRPr lang="en-US" sz="1400" baseline="30000" dirty="0"/>
          </a:p>
        </p:txBody>
      </p:sp>
    </p:spTree>
    <p:extLst>
      <p:ext uri="{BB962C8B-B14F-4D97-AF65-F5344CB8AC3E}">
        <p14:creationId xmlns:p14="http://schemas.microsoft.com/office/powerpoint/2010/main" val="20788265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0" y="18000"/>
            <a:ext cx="9143640" cy="687240"/>
          </a:xfrm>
          <a:prstGeom prst="rect">
            <a:avLst/>
          </a:prstGeom>
          <a:solidFill>
            <a:srgbClr val="C3D69B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200" dirty="0" smtClean="0">
                <a:solidFill>
                  <a:srgbClr val="000000"/>
                </a:solidFill>
                <a:latin typeface="Calibri"/>
              </a:rPr>
              <a:t>Multiplying two z-transforms</a:t>
            </a:r>
            <a:r>
              <a:rPr lang="en-US" sz="3200" strike="noStrike" dirty="0" smtClean="0">
                <a:solidFill>
                  <a:srgbClr val="000000"/>
                </a:solidFill>
                <a:latin typeface="Calibri"/>
              </a:rPr>
              <a:t> 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05" y="1757279"/>
            <a:ext cx="4127500" cy="990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979" y="952500"/>
            <a:ext cx="444500" cy="381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479" y="802774"/>
            <a:ext cx="1206500" cy="774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7948" y="914400"/>
            <a:ext cx="762000" cy="4191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9948" y="802774"/>
            <a:ext cx="901700" cy="774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4005" y="3137336"/>
            <a:ext cx="65084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is just the z-transform of the time sequence c[n] where: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Which is identical to the convolution formula: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b="1" dirty="0" smtClean="0"/>
              <a:t>Multiplying the z-transforms (polynomials) of two signals is the same as convolving them.</a:t>
            </a:r>
            <a:endParaRPr lang="en-US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0279" y="3473784"/>
            <a:ext cx="1803400" cy="838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9948" y="3694427"/>
            <a:ext cx="2476500" cy="3429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0965" y="4891663"/>
            <a:ext cx="2042027" cy="88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048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0" y="18000"/>
            <a:ext cx="9143640" cy="687240"/>
          </a:xfrm>
          <a:prstGeom prst="rect">
            <a:avLst/>
          </a:prstGeom>
          <a:solidFill>
            <a:srgbClr val="C3D69B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200" dirty="0" smtClean="0">
                <a:solidFill>
                  <a:srgbClr val="000000"/>
                </a:solidFill>
                <a:latin typeface="Calibri"/>
              </a:rPr>
              <a:t>Transfer function: poles and zeros</a:t>
            </a: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227263" y="1056105"/>
            <a:ext cx="7740315" cy="606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Since a z-transform is a polynomial, it has roots. In general a polynomial of order N has N complex roots, and can be factored into: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So we can also write the ratio of two z-transforms as: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This means that </a:t>
            </a:r>
            <a:r>
              <a:rPr lang="en-US" i="1" dirty="0" smtClean="0"/>
              <a:t>r(z) </a:t>
            </a:r>
            <a:r>
              <a:rPr lang="en-US" dirty="0" smtClean="0"/>
              <a:t>will become 0 when z is any of z</a:t>
            </a:r>
            <a:r>
              <a:rPr lang="en-US" baseline="-25000" dirty="0" smtClean="0"/>
              <a:t>0</a:t>
            </a:r>
            <a:r>
              <a:rPr lang="en-US" dirty="0" smtClean="0"/>
              <a:t>, z</a:t>
            </a:r>
            <a:r>
              <a:rPr lang="en-US" baseline="-25000" dirty="0" smtClean="0"/>
              <a:t>1</a:t>
            </a:r>
            <a:r>
              <a:rPr lang="en-US" dirty="0" smtClean="0"/>
              <a:t>, …, z</a:t>
            </a:r>
            <a:r>
              <a:rPr lang="en-US" baseline="-25000" dirty="0" smtClean="0"/>
              <a:t>N-1</a:t>
            </a:r>
          </a:p>
          <a:p>
            <a:endParaRPr lang="en-US" baseline="-25000" dirty="0"/>
          </a:p>
          <a:p>
            <a:r>
              <a:rPr lang="en-US" i="1" dirty="0"/>
              <a:t>a</a:t>
            </a:r>
            <a:r>
              <a:rPr lang="en-US" i="1" dirty="0" smtClean="0"/>
              <a:t>nd</a:t>
            </a:r>
            <a:r>
              <a:rPr lang="en-US" dirty="0" smtClean="0"/>
              <a:t> that </a:t>
            </a:r>
            <a:r>
              <a:rPr lang="en-US" dirty="0"/>
              <a:t>r(z) will become </a:t>
            </a:r>
            <a:r>
              <a:rPr lang="en-US" sz="2800" dirty="0" smtClean="0"/>
              <a:t>∞</a:t>
            </a:r>
            <a:r>
              <a:rPr lang="en-US" dirty="0" smtClean="0"/>
              <a:t> </a:t>
            </a:r>
            <a:r>
              <a:rPr lang="en-US" dirty="0"/>
              <a:t>when z is any of p</a:t>
            </a:r>
            <a:r>
              <a:rPr lang="en-US" baseline="-25000" dirty="0" smtClean="0"/>
              <a:t>0</a:t>
            </a:r>
            <a:r>
              <a:rPr lang="en-US" dirty="0" smtClean="0"/>
              <a:t>, p</a:t>
            </a:r>
            <a:r>
              <a:rPr lang="en-US" baseline="-25000" dirty="0" smtClean="0"/>
              <a:t>1</a:t>
            </a:r>
            <a:r>
              <a:rPr lang="en-US" dirty="0"/>
              <a:t>, …, </a:t>
            </a:r>
            <a:r>
              <a:rPr lang="en-US" dirty="0" smtClean="0"/>
              <a:t>p</a:t>
            </a:r>
            <a:r>
              <a:rPr lang="en-US" baseline="-25000" dirty="0"/>
              <a:t>M</a:t>
            </a:r>
            <a:r>
              <a:rPr lang="en-US" baseline="-25000" dirty="0" smtClean="0"/>
              <a:t>-1</a:t>
            </a:r>
          </a:p>
          <a:p>
            <a:endParaRPr lang="en-US" baseline="-25000" dirty="0" smtClean="0"/>
          </a:p>
          <a:p>
            <a:r>
              <a:rPr lang="en-US" dirty="0" smtClean="0"/>
              <a:t>The complex numbers z</a:t>
            </a:r>
            <a:r>
              <a:rPr lang="en-US" baseline="-25000" dirty="0" smtClean="0"/>
              <a:t>0</a:t>
            </a:r>
            <a:r>
              <a:rPr lang="en-US" dirty="0"/>
              <a:t>, z</a:t>
            </a:r>
            <a:r>
              <a:rPr lang="en-US" baseline="-25000" dirty="0"/>
              <a:t>1</a:t>
            </a:r>
            <a:r>
              <a:rPr lang="en-US" dirty="0"/>
              <a:t>, …, z</a:t>
            </a:r>
            <a:r>
              <a:rPr lang="en-US" baseline="-25000" dirty="0"/>
              <a:t>N-</a:t>
            </a:r>
            <a:r>
              <a:rPr lang="en-US" baseline="-25000" dirty="0" smtClean="0"/>
              <a:t>1 </a:t>
            </a:r>
            <a:r>
              <a:rPr lang="en-US" dirty="0" smtClean="0"/>
              <a:t>are the “zeros” of the function, r(z)</a:t>
            </a:r>
          </a:p>
          <a:p>
            <a:endParaRPr lang="en-US" baseline="-25000" dirty="0"/>
          </a:p>
          <a:p>
            <a:r>
              <a:rPr lang="en-US" dirty="0" smtClean="0"/>
              <a:t>The complex numbers </a:t>
            </a:r>
            <a:r>
              <a:rPr lang="en-US" dirty="0"/>
              <a:t>p</a:t>
            </a:r>
            <a:r>
              <a:rPr lang="en-US" baseline="-25000" dirty="0"/>
              <a:t>0</a:t>
            </a:r>
            <a:r>
              <a:rPr lang="en-US" dirty="0"/>
              <a:t>, p</a:t>
            </a:r>
            <a:r>
              <a:rPr lang="en-US" baseline="-25000" dirty="0"/>
              <a:t>1</a:t>
            </a:r>
            <a:r>
              <a:rPr lang="en-US" dirty="0"/>
              <a:t>, …, p</a:t>
            </a:r>
            <a:r>
              <a:rPr lang="en-US" baseline="-25000" dirty="0"/>
              <a:t>M-</a:t>
            </a:r>
            <a:r>
              <a:rPr lang="en-US" baseline="-25000" dirty="0" smtClean="0"/>
              <a:t>1 </a:t>
            </a:r>
            <a:r>
              <a:rPr lang="en-US" dirty="0" smtClean="0"/>
              <a:t>are the “poles” of the function, r(z)</a:t>
            </a:r>
          </a:p>
          <a:p>
            <a:endParaRPr lang="en-US" dirty="0"/>
          </a:p>
          <a:p>
            <a:r>
              <a:rPr lang="en-US" dirty="0" smtClean="0"/>
              <a:t>r(z) is called the discrete </a:t>
            </a:r>
            <a:r>
              <a:rPr lang="en-US" b="1" dirty="0" smtClean="0"/>
              <a:t>transfer function</a:t>
            </a:r>
            <a:r>
              <a:rPr lang="en-US" dirty="0" smtClean="0"/>
              <a:t>. It is the z-plane analog to the impulse response (which is defined for the time domain).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64" y="1858879"/>
            <a:ext cx="3162300" cy="2794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58" y="2834105"/>
            <a:ext cx="51054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1606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0" y="18000"/>
            <a:ext cx="9143640" cy="687240"/>
          </a:xfrm>
          <a:prstGeom prst="rect">
            <a:avLst/>
          </a:prstGeom>
          <a:solidFill>
            <a:srgbClr val="C3D69B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200" dirty="0" smtClean="0">
                <a:solidFill>
                  <a:srgbClr val="000000"/>
                </a:solidFill>
                <a:latin typeface="Calibri"/>
              </a:rPr>
              <a:t>Pole-Zero Plot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3500"/>
            <a:ext cx="9144000" cy="4180782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V="1">
            <a:off x="5026526" y="4424947"/>
            <a:ext cx="895685" cy="5882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29001" y="4734342"/>
            <a:ext cx="389021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 unit circle</a:t>
            </a:r>
          </a:p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|z|=1</a:t>
            </a: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</a:t>
            </a:r>
          </a:p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z = e</a:t>
            </a:r>
            <a:r>
              <a:rPr lang="en-US" baseline="30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-</a:t>
            </a:r>
            <a:r>
              <a:rPr lang="en-US" baseline="300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jω</a:t>
            </a:r>
            <a:endParaRPr lang="en-US" baseline="300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baseline="30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here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ω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ranges from 0 to 2π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baseline="30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6121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0" y="18000"/>
            <a:ext cx="9143640" cy="687240"/>
          </a:xfrm>
          <a:prstGeom prst="rect">
            <a:avLst/>
          </a:prstGeom>
          <a:solidFill>
            <a:srgbClr val="C3D69B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200" dirty="0" smtClean="0">
                <a:solidFill>
                  <a:srgbClr val="000000"/>
                </a:solidFill>
                <a:latin typeface="Calibri"/>
              </a:rPr>
              <a:t>Where is this going: filters</a:t>
            </a: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227263" y="1056105"/>
            <a:ext cx="77403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Any </a:t>
            </a:r>
            <a:r>
              <a:rPr lang="en-US" dirty="0" smtClean="0"/>
              <a:t>filter </a:t>
            </a:r>
            <a:r>
              <a:rPr lang="en-US" dirty="0"/>
              <a:t>can be described </a:t>
            </a:r>
            <a:r>
              <a:rPr lang="en-US" dirty="0" smtClean="0"/>
              <a:t>by: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poles </a:t>
            </a:r>
            <a:r>
              <a:rPr lang="en-US" dirty="0"/>
              <a:t>and zeroes </a:t>
            </a:r>
            <a:r>
              <a:rPr lang="en-US" dirty="0" smtClean="0"/>
              <a:t>(s-domain/z</a:t>
            </a:r>
            <a:r>
              <a:rPr lang="en-US" dirty="0"/>
              <a:t>-domain</a:t>
            </a:r>
            <a:r>
              <a:rPr lang="en-US" dirty="0" smtClean="0"/>
              <a:t>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impulse response (time domain)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frequency </a:t>
            </a:r>
            <a:r>
              <a:rPr lang="en-US" dirty="0"/>
              <a:t>response </a:t>
            </a:r>
            <a:r>
              <a:rPr lang="en-US" dirty="0" smtClean="0"/>
              <a:t>function</a:t>
            </a:r>
            <a:r>
              <a:rPr lang="en-US" dirty="0"/>
              <a:t> </a:t>
            </a:r>
            <a:r>
              <a:rPr lang="en-US" dirty="0" smtClean="0"/>
              <a:t>(Fourier/frequency domain)</a:t>
            </a:r>
          </a:p>
          <a:p>
            <a:endParaRPr lang="en-US" dirty="0"/>
          </a:p>
          <a:p>
            <a:r>
              <a:rPr lang="en-US" dirty="0" smtClean="0"/>
              <a:t>For continuous-time signals we use the Laplace transform / s-domain.</a:t>
            </a:r>
          </a:p>
          <a:p>
            <a:endParaRPr lang="en-US" dirty="0"/>
          </a:p>
          <a:p>
            <a:r>
              <a:rPr lang="en-US" dirty="0" smtClean="0"/>
              <a:t>For discrete-time signals we use the z-transform / z-domain.</a:t>
            </a:r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660903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0" y="18000"/>
            <a:ext cx="9143640" cy="687240"/>
          </a:xfrm>
          <a:prstGeom prst="rect">
            <a:avLst/>
          </a:prstGeom>
          <a:solidFill>
            <a:srgbClr val="C3D69B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200" dirty="0" smtClean="0">
                <a:solidFill>
                  <a:srgbClr val="000000"/>
                </a:solidFill>
                <a:latin typeface="Calibri"/>
              </a:rPr>
              <a:t>So many transforms!</a:t>
            </a: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227263" y="1056105"/>
            <a:ext cx="7740315" cy="5355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</a:t>
            </a:r>
            <a:r>
              <a:rPr lang="en-US" b="1" dirty="0" smtClean="0"/>
              <a:t>z-transform (i.e. discrete complex transform) </a:t>
            </a:r>
            <a:r>
              <a:rPr lang="en-US" dirty="0" smtClean="0"/>
              <a:t>is the discrete version of the </a:t>
            </a:r>
            <a:r>
              <a:rPr lang="en-US" b="1" dirty="0" smtClean="0"/>
              <a:t>Laplace Transform.</a:t>
            </a:r>
            <a:r>
              <a:rPr lang="en-US" dirty="0" smtClean="0"/>
              <a:t> </a:t>
            </a:r>
            <a:endParaRPr lang="en-US" b="1" dirty="0" smtClean="0"/>
          </a:p>
          <a:p>
            <a:endParaRPr lang="en-US" dirty="0"/>
          </a:p>
          <a:p>
            <a:r>
              <a:rPr lang="en-US" b="1" dirty="0" smtClean="0"/>
              <a:t>The Discrete-Time Fourier Transform (DTFT) </a:t>
            </a:r>
            <a:r>
              <a:rPr lang="en-US" dirty="0" smtClean="0"/>
              <a:t>is the special case of the z-transform evaluated along the unit circle, z=e</a:t>
            </a:r>
            <a:r>
              <a:rPr lang="en-US" baseline="30000" dirty="0" smtClean="0"/>
              <a:t>-</a:t>
            </a:r>
            <a:r>
              <a:rPr lang="en-US" baseline="30000" dirty="0" err="1" smtClean="0"/>
              <a:t>iw</a:t>
            </a:r>
            <a:r>
              <a:rPr lang="en-US" dirty="0" smtClean="0"/>
              <a:t>, i.e. a set of complex sinusoids.</a:t>
            </a:r>
          </a:p>
          <a:p>
            <a:endParaRPr lang="en-US" dirty="0"/>
          </a:p>
          <a:p>
            <a:r>
              <a:rPr lang="en-US" b="1" dirty="0" smtClean="0"/>
              <a:t>The Discrete Fourier Transform (DFT) </a:t>
            </a:r>
            <a:r>
              <a:rPr lang="en-US" dirty="0" smtClean="0"/>
              <a:t>is a sampled version of the DTFT.</a:t>
            </a:r>
          </a:p>
          <a:p>
            <a:endParaRPr lang="en-US" dirty="0"/>
          </a:p>
          <a:p>
            <a:r>
              <a:rPr lang="en-US" b="1" dirty="0" smtClean="0"/>
              <a:t>The Fast Fourier Transform (FFT) </a:t>
            </a:r>
            <a:r>
              <a:rPr lang="en-US" dirty="0" smtClean="0"/>
              <a:t>is an algorithm used to compute the DFT. This is what we use to do Fourier decomposition (decompose a complex signal into a discrete sum of different complex exponentials).</a:t>
            </a:r>
          </a:p>
          <a:p>
            <a:endParaRPr lang="en-US" dirty="0"/>
          </a:p>
          <a:p>
            <a:r>
              <a:rPr lang="en-US" dirty="0" smtClean="0"/>
              <a:t>These, and their relation to Fourier Series (continuous periodic signals) and Fourier (Integral) Transform (continuous non-periodic signals), will be covered in detail later.</a:t>
            </a:r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819523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Shape 1"/>
          <p:cNvSpPr txBox="1"/>
          <p:nvPr/>
        </p:nvSpPr>
        <p:spPr>
          <a:xfrm>
            <a:off x="0" y="18000"/>
            <a:ext cx="9143640" cy="687240"/>
          </a:xfrm>
          <a:prstGeom prst="rect">
            <a:avLst/>
          </a:prstGeom>
          <a:solidFill>
            <a:srgbClr val="C3D69B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3200" strike="noStrike" dirty="0" smtClean="0">
                <a:solidFill>
                  <a:srgbClr val="000000"/>
                </a:solidFill>
                <a:latin typeface="Calibri"/>
              </a:rPr>
              <a:t>Previous lab/homework  (3 weeks ago!)</a:t>
            </a:r>
            <a:endParaRPr dirty="0"/>
          </a:p>
        </p:txBody>
      </p:sp>
      <p:sp>
        <p:nvSpPr>
          <p:cNvPr id="392" name="TextShape 2"/>
          <p:cNvSpPr txBox="1"/>
          <p:nvPr/>
        </p:nvSpPr>
        <p:spPr>
          <a:xfrm>
            <a:off x="0" y="705600"/>
            <a:ext cx="9143640" cy="54201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2900" indent="-342900">
              <a:lnSpc>
                <a:spcPct val="100000"/>
              </a:lnSpc>
              <a:buFont typeface="Arial"/>
              <a:buChar char="•"/>
            </a:pPr>
            <a:r>
              <a:rPr lang="en-US" sz="2400" strike="noStrike" dirty="0" smtClean="0">
                <a:solidFill>
                  <a:srgbClr val="000000"/>
                </a:solidFill>
                <a:latin typeface="Calibri"/>
              </a:rPr>
              <a:t>Synthesizing square wave and saw tooth signals.</a:t>
            </a:r>
          </a:p>
          <a:p>
            <a:pPr marL="342900" indent="-342900">
              <a:lnSpc>
                <a:spcPct val="100000"/>
              </a:lnSpc>
              <a:buFont typeface="Arial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Calibri"/>
              </a:rPr>
              <a:t>Note that MATLAB has functions for these!</a:t>
            </a:r>
            <a:endParaRPr dirty="0"/>
          </a:p>
          <a:p>
            <a:endParaRPr dirty="0"/>
          </a:p>
          <a:p>
            <a:pPr>
              <a:lnSpc>
                <a:spcPct val="100000"/>
              </a:lnSpc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3028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lecture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</a:t>
            </a:r>
            <a:r>
              <a:rPr lang="en-US" dirty="0" smtClean="0"/>
              <a:t>he DFT (and inverse DFT)</a:t>
            </a:r>
          </a:p>
          <a:p>
            <a:pPr lvl="1"/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DFT pairs </a:t>
            </a:r>
          </a:p>
          <a:p>
            <a:pPr lvl="1"/>
            <a:r>
              <a:rPr lang="en-US" dirty="0" smtClean="0"/>
              <a:t>Properties</a:t>
            </a:r>
          </a:p>
          <a:p>
            <a:r>
              <a:rPr lang="en-US" dirty="0" smtClean="0"/>
              <a:t>Filtering</a:t>
            </a:r>
          </a:p>
          <a:p>
            <a:pPr lvl="1"/>
            <a:r>
              <a:rPr lang="en-US" dirty="0" smtClean="0"/>
              <a:t>How we go from recurrence/difference equation to transfer function representation and back</a:t>
            </a:r>
          </a:p>
          <a:p>
            <a:pPr lvl="1"/>
            <a:r>
              <a:rPr lang="en-US" dirty="0" smtClean="0"/>
              <a:t>Compare the </a:t>
            </a:r>
            <a:r>
              <a:rPr lang="en-US" b="1" dirty="0" err="1" smtClean="0"/>
              <a:t>conv</a:t>
            </a:r>
            <a:r>
              <a:rPr lang="en-US" dirty="0" smtClean="0"/>
              <a:t> and </a:t>
            </a:r>
            <a:r>
              <a:rPr lang="en-US" b="1" dirty="0" smtClean="0"/>
              <a:t>filter</a:t>
            </a:r>
            <a:r>
              <a:rPr lang="en-US" dirty="0" smtClean="0"/>
              <a:t> functions in MATLAB</a:t>
            </a:r>
          </a:p>
          <a:p>
            <a:pPr lvl="1"/>
            <a:r>
              <a:rPr lang="en-US" dirty="0" smtClean="0"/>
              <a:t>Simple low pass and high pass filters</a:t>
            </a:r>
          </a:p>
          <a:p>
            <a:pPr lvl="1"/>
            <a:r>
              <a:rPr lang="en-US" dirty="0" err="1" smtClean="0"/>
              <a:t>Bandpass</a:t>
            </a:r>
            <a:r>
              <a:rPr lang="en-US" dirty="0" smtClean="0"/>
              <a:t> filters</a:t>
            </a:r>
          </a:p>
          <a:p>
            <a:pPr lvl="1"/>
            <a:r>
              <a:rPr lang="en-US" dirty="0" smtClean="0"/>
              <a:t>Butterworth filters</a:t>
            </a:r>
          </a:p>
          <a:p>
            <a:pPr lvl="1"/>
            <a:r>
              <a:rPr lang="en-US" dirty="0" smtClean="0"/>
              <a:t>Moving Average (MA)/smoothing filters</a:t>
            </a:r>
          </a:p>
          <a:p>
            <a:pPr lvl="1"/>
            <a:r>
              <a:rPr lang="en-US" dirty="0" smtClean="0"/>
              <a:t>Median filters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035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DFT in MATLAB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012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0"/>
            <a:ext cx="80830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53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use of MATLAB </a:t>
            </a:r>
            <a:r>
              <a:rPr lang="en-US" dirty="0" err="1" smtClean="0"/>
              <a:t>fft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1066800"/>
            <a:ext cx="7188200" cy="471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777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Inverse FFT recovers original signal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5950" y="896268"/>
            <a:ext cx="83133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aseline="30000" dirty="0"/>
          </a:p>
          <a:p>
            <a:r>
              <a:rPr lang="en-US" baseline="30000" dirty="0"/>
              <a:t>The inverse discrete Fourier transform function </a:t>
            </a:r>
            <a:r>
              <a:rPr lang="en-US" baseline="30000" dirty="0" err="1"/>
              <a:t>ifft</a:t>
            </a:r>
            <a:r>
              <a:rPr lang="en-US" baseline="30000" dirty="0"/>
              <a:t> also accepts an input sequence and, optionally, the number of desired points for the transform. Try the example below; the original sequence x and the reconstructed sequence are identical (within rounding error)</a:t>
            </a:r>
            <a:r>
              <a:rPr lang="en-US" baseline="30000" dirty="0" smtClean="0"/>
              <a:t>.</a:t>
            </a:r>
          </a:p>
          <a:p>
            <a:endParaRPr lang="en-US" baseline="30000" dirty="0"/>
          </a:p>
          <a:p>
            <a:r>
              <a:rPr lang="en-US" baseline="30000" dirty="0">
                <a:latin typeface="Courier New"/>
                <a:cs typeface="Courier New"/>
              </a:rPr>
              <a:t>t = 0:1/255:1;</a:t>
            </a:r>
          </a:p>
          <a:p>
            <a:r>
              <a:rPr lang="fr-FR" baseline="30000" dirty="0">
                <a:latin typeface="Courier New"/>
                <a:cs typeface="Courier New"/>
              </a:rPr>
              <a:t>x = sin(2*pi*120*</a:t>
            </a:r>
            <a:r>
              <a:rPr lang="fr-FR" baseline="30000" dirty="0" err="1">
                <a:latin typeface="Courier New"/>
                <a:cs typeface="Courier New"/>
              </a:rPr>
              <a:t>t</a:t>
            </a:r>
            <a:r>
              <a:rPr lang="fr-FR" baseline="30000" dirty="0">
                <a:latin typeface="Courier New"/>
                <a:cs typeface="Courier New"/>
              </a:rPr>
              <a:t>);</a:t>
            </a:r>
          </a:p>
          <a:p>
            <a:r>
              <a:rPr lang="fr-FR" baseline="30000" dirty="0">
                <a:latin typeface="Courier New"/>
                <a:cs typeface="Courier New"/>
              </a:rPr>
              <a:t>y = real(</a:t>
            </a:r>
            <a:r>
              <a:rPr lang="fr-FR" baseline="30000" dirty="0" err="1">
                <a:latin typeface="Courier New"/>
                <a:cs typeface="Courier New"/>
              </a:rPr>
              <a:t>ifft</a:t>
            </a:r>
            <a:r>
              <a:rPr lang="fr-FR" baseline="30000" dirty="0">
                <a:latin typeface="Courier New"/>
                <a:cs typeface="Courier New"/>
              </a:rPr>
              <a:t>(</a:t>
            </a:r>
            <a:r>
              <a:rPr lang="fr-FR" baseline="30000" dirty="0" err="1">
                <a:latin typeface="Courier New"/>
                <a:cs typeface="Courier New"/>
              </a:rPr>
              <a:t>fft</a:t>
            </a:r>
            <a:r>
              <a:rPr lang="fr-FR" baseline="30000" dirty="0">
                <a:latin typeface="Courier New"/>
                <a:cs typeface="Courier New"/>
              </a:rPr>
              <a:t>(x)));</a:t>
            </a:r>
            <a:endParaRPr lang="en-US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648182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Filters and Transfer Functions in MATLAB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60" y="1391931"/>
            <a:ext cx="5037705" cy="9376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7659" y="745600"/>
            <a:ext cx="78329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In </a:t>
            </a:r>
            <a:r>
              <a:rPr lang="en-US" dirty="0"/>
              <a:t>general, the z-transform Y(z) of a discrete-time filter's output y(n) is related to the z-transform X(z) of the input by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928" y="2539397"/>
            <a:ext cx="7639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where H(z) is the filter's transfer function. Here, the constants b(</a:t>
            </a:r>
            <a:r>
              <a:rPr lang="en-US" dirty="0" err="1"/>
              <a:t>i</a:t>
            </a:r>
            <a:r>
              <a:rPr lang="en-US" dirty="0"/>
              <a:t>) and a(</a:t>
            </a:r>
            <a:r>
              <a:rPr lang="en-US" dirty="0" err="1"/>
              <a:t>i</a:t>
            </a:r>
            <a:r>
              <a:rPr lang="en-US" dirty="0"/>
              <a:t>) are the filter coefficients and the order of the filter is the maximum of n and m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268207" y="5415735"/>
            <a:ext cx="72589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/>
              <a:t>Note:   </a:t>
            </a:r>
            <a:r>
              <a:rPr lang="en-US" i="1" dirty="0"/>
              <a:t>The filter coefficients start with subscript 1, rather than 0. This reflects the standard indexing scheme used for MATLAB vectors</a:t>
            </a:r>
            <a:r>
              <a:rPr lang="en-US" i="1" dirty="0" smtClean="0"/>
              <a:t>. In most books (and in programming languages like Python and C) you will see indexing that starts at subscript 0.</a:t>
            </a:r>
            <a:endParaRPr lang="en-US" i="1" dirty="0"/>
          </a:p>
        </p:txBody>
      </p:sp>
      <p:sp>
        <p:nvSpPr>
          <p:cNvPr id="8" name="Rectangle 7"/>
          <p:cNvSpPr/>
          <p:nvPr/>
        </p:nvSpPr>
        <p:spPr>
          <a:xfrm>
            <a:off x="380928" y="3398556"/>
            <a:ext cx="77000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MATLAB filter functions store the coefficients in two vectors, one for the numerator </a:t>
            </a:r>
            <a:r>
              <a:rPr lang="en-US" dirty="0" smtClean="0"/>
              <a:t>(B) and </a:t>
            </a:r>
            <a:r>
              <a:rPr lang="en-US" dirty="0"/>
              <a:t>one for the </a:t>
            </a:r>
            <a:r>
              <a:rPr lang="en-US" dirty="0" smtClean="0"/>
              <a:t>denominator (A).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1866" y="1180019"/>
            <a:ext cx="35221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Confusingly while Smith defines z-transform in positive powers of z, MATLAB and every other book I see uses negative powers.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429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Filter Coefficients and Filter </a:t>
            </a:r>
            <a:r>
              <a:rPr lang="en-US" dirty="0" smtClean="0"/>
              <a:t>Names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3267" y="1166842"/>
            <a:ext cx="864230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Many </a:t>
            </a:r>
            <a:r>
              <a:rPr lang="en-US" dirty="0"/>
              <a:t>standard names for filters reflect the number of a and b coefficients present: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When n = 0 (that is, b is a scalar), the filter is an Infinite Impulse Response (IIR), all-pole, recursive, or autoregressive (AR) filter.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When m = 0 (that is, a is a scalar), the filter is a Finite Impulse Response (FIR), all-zero, </a:t>
            </a:r>
            <a:r>
              <a:rPr lang="en-US" dirty="0" err="1"/>
              <a:t>nonrecursive</a:t>
            </a:r>
            <a:r>
              <a:rPr lang="en-US" dirty="0"/>
              <a:t>, or moving-average (MA) filter.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If both n and m are greater than zero, the filter is an IIR, pole-zero, recursive, or autoregressive moving-average (ARMA) filter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The acronyms AR, MA, and ARMA are usually applied to filters associated with filtered </a:t>
            </a:r>
            <a:r>
              <a:rPr lang="en-US" dirty="0" smtClean="0"/>
              <a:t>stochastic (random) processes.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351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Filtering with the </a:t>
            </a:r>
            <a:r>
              <a:rPr lang="en-US" b="1" dirty="0"/>
              <a:t>filter</a:t>
            </a:r>
            <a:r>
              <a:rPr lang="en-US" dirty="0"/>
              <a:t> f</a:t>
            </a:r>
            <a:r>
              <a:rPr lang="en-US" dirty="0" smtClean="0"/>
              <a:t>unction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0489" y="822897"/>
            <a:ext cx="83851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From </a:t>
            </a:r>
            <a:r>
              <a:rPr lang="en-US" dirty="0"/>
              <a:t>the Z-transform </a:t>
            </a:r>
            <a:r>
              <a:rPr lang="en-US" dirty="0" smtClean="0"/>
              <a:t>relation…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…it </a:t>
            </a:r>
            <a:r>
              <a:rPr lang="en-US" dirty="0"/>
              <a:t>is simple to work back to a difference </a:t>
            </a:r>
            <a:r>
              <a:rPr lang="en-US" dirty="0" smtClean="0"/>
              <a:t>equation. Assume </a:t>
            </a:r>
            <a:r>
              <a:rPr lang="en-US" dirty="0"/>
              <a:t>that a(1) = 1. Move the denominator to the left side and take the inverse Z-</a:t>
            </a:r>
            <a:r>
              <a:rPr lang="en-US" dirty="0" smtClean="0"/>
              <a:t>transform: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87" y="2300225"/>
            <a:ext cx="7315200" cy="342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516" y="822897"/>
            <a:ext cx="5037705" cy="9376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0489" y="2911094"/>
            <a:ext cx="82244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terms of current and past inputs, and past outputs, y(k) is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87" y="3506606"/>
            <a:ext cx="7302500" cy="330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0489" y="4043869"/>
            <a:ext cx="731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This is the standard time-domain representation of a digital filter, computed starting with y(1) and assuming a causal system with zero initial conditions.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666" y="4958443"/>
            <a:ext cx="47117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028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</a:t>
            </a:r>
            <a:r>
              <a:rPr lang="en-US" dirty="0" smtClean="0"/>
              <a:t> = filter(B, A, x)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705523"/>
            <a:ext cx="6531429" cy="6186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filter in this form is easy to implement with the filter function. For example, a simple single-pole filter (</a:t>
            </a:r>
            <a:r>
              <a:rPr lang="en-US" dirty="0" err="1"/>
              <a:t>lowpass</a:t>
            </a:r>
            <a:r>
              <a:rPr lang="en-US" dirty="0"/>
              <a:t>) is</a:t>
            </a:r>
          </a:p>
          <a:p>
            <a:endParaRPr lang="en-US" dirty="0"/>
          </a:p>
          <a:p>
            <a:r>
              <a:rPr lang="en-US" dirty="0"/>
              <a:t>B = 1;          % Numerator</a:t>
            </a:r>
          </a:p>
          <a:p>
            <a:r>
              <a:rPr lang="en-US" dirty="0"/>
              <a:t>A = [1 -0.9];   % </a:t>
            </a:r>
            <a:r>
              <a:rPr lang="en-US" dirty="0" smtClean="0"/>
              <a:t>Denominator</a:t>
            </a:r>
          </a:p>
          <a:p>
            <a:endParaRPr lang="en-US" dirty="0"/>
          </a:p>
          <a:p>
            <a:r>
              <a:rPr lang="en-US" dirty="0"/>
              <a:t>where the vectors B and A represent the coefficients of a filter in transfer function </a:t>
            </a:r>
            <a:r>
              <a:rPr lang="en-US" dirty="0" smtClean="0"/>
              <a:t>form, that is:</a:t>
            </a:r>
          </a:p>
          <a:p>
            <a:endParaRPr lang="en-US" dirty="0"/>
          </a:p>
          <a:p>
            <a:r>
              <a:rPr lang="en-US" dirty="0" smtClean="0"/>
              <a:t>Y(z) = H(z)X(z) where: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This has a pole at z=0.9. Plot it in MATLAB using:</a:t>
            </a:r>
          </a:p>
          <a:p>
            <a:endParaRPr lang="en-US" dirty="0"/>
          </a:p>
          <a:p>
            <a:r>
              <a:rPr lang="en-US" dirty="0" smtClean="0"/>
              <a:t>&gt;&gt; </a:t>
            </a:r>
            <a:r>
              <a:rPr lang="en-US" dirty="0" err="1" smtClean="0"/>
              <a:t>zplane</a:t>
            </a:r>
            <a:r>
              <a:rPr lang="en-US" dirty="0" smtClean="0"/>
              <a:t>(B, A)</a:t>
            </a:r>
          </a:p>
          <a:p>
            <a:endParaRPr lang="en-US" dirty="0"/>
          </a:p>
          <a:p>
            <a:r>
              <a:rPr lang="en-US" dirty="0" smtClean="0"/>
              <a:t>The corresponding difference equation is:</a:t>
            </a:r>
          </a:p>
          <a:p>
            <a:endParaRPr lang="en-US" dirty="0"/>
          </a:p>
          <a:p>
            <a:r>
              <a:rPr lang="en-US" dirty="0" smtClean="0"/>
              <a:t>y[n] – 0.9y[n-1] = x[n]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700" y="3429000"/>
            <a:ext cx="4178300" cy="3225800"/>
          </a:xfrm>
          <a:prstGeom prst="rect">
            <a:avLst/>
          </a:prstGeom>
        </p:spPr>
      </p:pic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933678"/>
              </p:ext>
            </p:extLst>
          </p:nvPr>
        </p:nvGraphicFramePr>
        <p:xfrm>
          <a:off x="787399" y="3556000"/>
          <a:ext cx="2330971" cy="663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4" imgW="1473200" imgH="419100" progId="Equation.3">
                  <p:embed/>
                </p:oleObj>
              </mc:Choice>
              <mc:Fallback>
                <p:oleObj name="Equation" r:id="rId4" imgW="1473200" imgH="4191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87399" y="3556000"/>
                        <a:ext cx="2330971" cy="6631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217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 smtClean="0"/>
              <a:t>zplane</a:t>
            </a:r>
            <a:r>
              <a:rPr lang="en-US" sz="1800" dirty="0" smtClean="0"/>
              <a:t> finds poles and zeros using the roots function</a:t>
            </a:r>
          </a:p>
          <a:p>
            <a:pPr marL="0" indent="0">
              <a:buNone/>
            </a:pPr>
            <a:r>
              <a:rPr lang="en-US" sz="1800" dirty="0"/>
              <a:t>f</a:t>
            </a:r>
            <a:r>
              <a:rPr lang="en-US" sz="1800" dirty="0" smtClean="0"/>
              <a:t>or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e.g. find the roots of A(z)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u</a:t>
            </a:r>
            <a:r>
              <a:rPr lang="en-US" sz="1800" dirty="0" smtClean="0"/>
              <a:t>se this to find roots of any polynomial function.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408" y="1073501"/>
            <a:ext cx="2514600" cy="812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160" y="2054051"/>
            <a:ext cx="2489781" cy="149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820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</a:t>
            </a:r>
            <a:r>
              <a:rPr lang="en-US" dirty="0" err="1" smtClean="0"/>
              <a:t>iltfilt</a:t>
            </a:r>
            <a:r>
              <a:rPr lang="en-US" dirty="0" smtClean="0"/>
              <a:t> – two-way filtering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4368"/>
            <a:ext cx="6289840" cy="6223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87284" y="1685028"/>
            <a:ext cx="225063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filter</a:t>
            </a:r>
            <a:r>
              <a:rPr lang="en-US" dirty="0" smtClean="0"/>
              <a:t> delays a signal, because it passes data in one-direction only  </a:t>
            </a:r>
          </a:p>
          <a:p>
            <a:endParaRPr lang="en-US" dirty="0"/>
          </a:p>
          <a:p>
            <a:r>
              <a:rPr lang="en-US" b="1" dirty="0" err="1" smtClean="0"/>
              <a:t>filtfilt</a:t>
            </a:r>
            <a:r>
              <a:rPr lang="en-US" dirty="0"/>
              <a:t> </a:t>
            </a:r>
            <a:r>
              <a:rPr lang="en-US" dirty="0" smtClean="0"/>
              <a:t>corrects this by filtering in one direction, reversing the result, and then filtering again, which corrects the delay, but can lead to spurious </a:t>
            </a:r>
            <a:r>
              <a:rPr lang="en-US" dirty="0" err="1" smtClean="0"/>
              <a:t>acausal</a:t>
            </a:r>
            <a:r>
              <a:rPr lang="en-US" dirty="0" smtClean="0"/>
              <a:t> effects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689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041400"/>
            <a:ext cx="7937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0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9600"/>
            <a:ext cx="7454900" cy="56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67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does frequency axis go to 1 in MATLAB?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1867" y="2182505"/>
            <a:ext cx="8178800" cy="2390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aseline="30000" dirty="0" smtClean="0"/>
              <a:t>The Signal Processing</a:t>
            </a:r>
            <a:r>
              <a:rPr lang="en-US" sz="2800" dirty="0" smtClean="0"/>
              <a:t> </a:t>
            </a:r>
            <a:r>
              <a:rPr lang="en-US" sz="2800" baseline="30000" dirty="0"/>
              <a:t>T</a:t>
            </a:r>
            <a:r>
              <a:rPr lang="en-US" sz="2800" baseline="30000" dirty="0" smtClean="0"/>
              <a:t>oolbox </a:t>
            </a:r>
            <a:r>
              <a:rPr lang="en-US" sz="2800" baseline="30000" dirty="0"/>
              <a:t>uses the convention that unit frequency is the </a:t>
            </a:r>
            <a:r>
              <a:rPr lang="en-US" sz="2800" baseline="30000" dirty="0" err="1"/>
              <a:t>Nyquist</a:t>
            </a:r>
            <a:r>
              <a:rPr lang="en-US" sz="2800" baseline="30000" dirty="0"/>
              <a:t> frequency, defined as half the sampling frequency. The cutoff frequency parameter for all basic filter design functions is normalized by the </a:t>
            </a:r>
            <a:r>
              <a:rPr lang="en-US" sz="2800" baseline="30000" dirty="0" err="1" smtClean="0"/>
              <a:t>Nyquist</a:t>
            </a:r>
            <a:r>
              <a:rPr lang="en-US" sz="2800" baseline="30000" dirty="0"/>
              <a:t> </a:t>
            </a:r>
            <a:r>
              <a:rPr lang="en-US" sz="2800" baseline="30000" dirty="0" smtClean="0"/>
              <a:t>frequency</a:t>
            </a:r>
            <a:r>
              <a:rPr lang="en-US" sz="2800" baseline="30000" dirty="0"/>
              <a:t>. For a system with </a:t>
            </a:r>
            <a:r>
              <a:rPr lang="en-US" sz="2800" baseline="30000" dirty="0" smtClean="0"/>
              <a:t>a</a:t>
            </a:r>
            <a:r>
              <a:rPr lang="en-US" sz="2800" dirty="0" smtClean="0"/>
              <a:t> </a:t>
            </a:r>
            <a:r>
              <a:rPr lang="en-US" sz="2800" baseline="30000" dirty="0" smtClean="0"/>
              <a:t>1000 </a:t>
            </a:r>
            <a:r>
              <a:rPr lang="en-US" sz="2800" baseline="30000" dirty="0"/>
              <a:t>Hz sampling frequency, for example, 300 Hz is 300/500 = 0.6. To convert normalized frequency to angular frequency around the unit circle, multiply by π. To convert normalized frequency back to hertz, multiply by half the sample frequency.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01154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100"/>
            <a:ext cx="9144000" cy="599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793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9100"/>
            <a:ext cx="9144000" cy="347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063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0300"/>
            <a:ext cx="9144000" cy="459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532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1762</Words>
  <Application>Microsoft Macintosh PowerPoint</Application>
  <PresentationFormat>On-screen Show (4:3)</PresentationFormat>
  <Paragraphs>194</Paragraphs>
  <Slides>27</Slides>
  <Notes>1</Notes>
  <HiddenSlides>5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Office Theme</vt:lpstr>
      <vt:lpstr>Equation</vt:lpstr>
      <vt:lpstr>Review of last lecture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This lecture</vt:lpstr>
      <vt:lpstr>DFT in MATLAB</vt:lpstr>
      <vt:lpstr>PowerPoint Presentation</vt:lpstr>
      <vt:lpstr>Example use of MATLAB fft</vt:lpstr>
      <vt:lpstr>Inverse FFT recovers original signal</vt:lpstr>
      <vt:lpstr>Filters and Transfer Functions in MATLAB</vt:lpstr>
      <vt:lpstr>Filter Coefficients and Filter Names</vt:lpstr>
      <vt:lpstr>Filtering with the filter function</vt:lpstr>
      <vt:lpstr>y = filter(B, A, x)</vt:lpstr>
      <vt:lpstr>roots</vt:lpstr>
      <vt:lpstr>filtfilt – two-way filtering</vt:lpstr>
      <vt:lpstr>PowerPoint Presentation</vt:lpstr>
      <vt:lpstr>PowerPoint Presentation</vt:lpstr>
      <vt:lpstr>Why does frequency axis go to 1 in MATLAB?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Series Analysis and Signal Processing</dc:title>
  <dc:creator>Glenn Thompson</dc:creator>
  <cp:lastModifiedBy>Glenn Thompson</cp:lastModifiedBy>
  <cp:revision>19</cp:revision>
  <dcterms:created xsi:type="dcterms:W3CDTF">2015-12-27T19:24:14Z</dcterms:created>
  <dcterms:modified xsi:type="dcterms:W3CDTF">2016-02-19T12:56:25Z</dcterms:modified>
</cp:coreProperties>
</file>